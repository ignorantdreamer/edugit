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35" r:id="rId5"/>
    <p:sldId id="336" r:id="rId6"/>
    <p:sldId id="337" r:id="rId7"/>
    <p:sldId id="338" r:id="rId8"/>
    <p:sldId id="339" r:id="rId9"/>
    <p:sldId id="349" r:id="rId10"/>
    <p:sldId id="348" r:id="rId1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Автор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4" autoAdjust="0"/>
    <p:restoredTop sz="95394" autoAdjust="0"/>
  </p:normalViewPr>
  <p:slideViewPr>
    <p:cSldViewPr snapToGrid="0">
      <p:cViewPr varScale="1">
        <p:scale>
          <a:sx n="70" d="100"/>
          <a:sy n="70" d="100"/>
        </p:scale>
        <p:origin x="96" y="426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5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DB967A7C-9C9A-4B29-9491-2CFF13651134}" type="datetime1">
              <a:rPr lang="ru-RU" smtClean="0"/>
              <a:t>11.06.2025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9E9D563E-BCB2-465B-8A3C-AC86CE64F69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6E39FF30-72EE-404D-AF97-454A1E16F01B}" type="datetime1">
              <a:rPr lang="ru-RU" smtClean="0"/>
              <a:pPr/>
              <a:t>11.06.2025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8B990660-4B7D-4C11-96DB-B19FFA8CA9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B990660-4B7D-4C11-96DB-B19FFA8CA93C}" type="slidenum">
              <a:rPr lang="ru-RU" noProof="0" smtClean="0"/>
              <a:t>1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5897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B990660-4B7D-4C11-96DB-B19FFA8CA93C}" type="slidenum">
              <a:rPr lang="ru-RU" noProof="0" smtClean="0"/>
              <a:t>2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19333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B990660-4B7D-4C11-96DB-B19FFA8CA93C}" type="slidenum">
              <a:rPr lang="ru-RU" noProof="0" smtClean="0"/>
              <a:t>3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2545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B990660-4B7D-4C11-96DB-B19FFA8CA93C}" type="slidenum">
              <a:rPr lang="ru-RU" noProof="0" smtClean="0"/>
              <a:t>4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91274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B990660-4B7D-4C11-96DB-B19FFA8CA93C}" type="slidenum">
              <a:rPr lang="ru-RU" noProof="0" smtClean="0"/>
              <a:t>5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06147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BDC97-0A65-AD30-E758-0FDEA82E7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17ABEE7-5B2F-1963-13B7-DE7AA2A3F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1E40399-2AB6-ABCE-CF31-E6F8A63B5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A881F0-73A6-C355-58BD-A4ED10300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B990660-4B7D-4C11-96DB-B19FFA8CA93C}" type="slidenum">
              <a:rPr lang="ru-RU" noProof="0" smtClean="0"/>
              <a:t>6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99352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DA09-C471-4444-F805-927BEEBAC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FB8B753-08F1-3685-AB6D-ED22CD997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522F764-4F63-3DCF-EA2A-9A9D1456E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240D37-90FB-4732-7BED-6B9238AA8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B990660-4B7D-4C11-96DB-B19FFA8CA93C}" type="slidenum">
              <a:rPr lang="ru-RU" noProof="0" smtClean="0"/>
              <a:t>7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76683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rtlCol="0" anchor="b">
            <a:normAutofit/>
          </a:bodyPr>
          <a:lstStyle>
            <a:lvl1pPr algn="l">
              <a:defRPr lang="ru-RU" sz="4000" b="1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pic>
        <p:nvPicPr>
          <p:cNvPr id="4" name="Графический объект 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ступл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rtlCol="0" anchor="b">
            <a:normAutofit/>
          </a:bodyPr>
          <a:lstStyle>
            <a:lvl1pPr>
              <a:defRPr lang="ru-RU" sz="28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ru-RU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ru-RU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ru-RU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 </a:t>
            </a:r>
          </a:p>
          <a:p>
            <a:pPr lvl="3" rtl="0"/>
            <a:r>
              <a:rPr lang="ru-RU"/>
              <a:t>Четвертый уровень </a:t>
            </a:r>
          </a:p>
          <a:p>
            <a:pPr lvl="4" rtl="0"/>
            <a:r>
              <a:rPr lang="ru-RU"/>
              <a:t>Пятый уровень </a:t>
            </a:r>
          </a:p>
          <a:p>
            <a:pPr lvl="0"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ru-RU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ru-RU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ru-RU" sz="40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ru-RU" sz="40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 rtlCol="0">
            <a:normAutofit/>
          </a:bodyPr>
          <a:lstStyle>
            <a:lvl1pPr marL="0" indent="0">
              <a:buNone/>
              <a:defRPr lang="ru-RU" sz="2800"/>
            </a:lvl1pPr>
            <a:lvl2pPr marL="457200" indent="0">
              <a:buNone/>
              <a:defRPr lang="ru-RU" sz="2400"/>
            </a:lvl2pPr>
            <a:lvl3pPr marL="914400" indent="0">
              <a:buNone/>
              <a:defRPr lang="ru-RU" sz="2000"/>
            </a:lvl3pPr>
            <a:lvl4pPr marL="1371600" indent="0">
              <a:buNone/>
              <a:defRPr lang="ru-RU" sz="1800"/>
            </a:lvl4pPr>
            <a:lvl5pPr marL="1828800" indent="0">
              <a:buNone/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rtlCol="0" anchor="b">
            <a:normAutofit/>
          </a:bodyPr>
          <a:lstStyle>
            <a:lvl1pPr>
              <a:defRPr lang="ru-RU" sz="400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675" name="Текст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lang="ru-RU" sz="2800"/>
            </a:lvl1pPr>
            <a:lvl2pPr marL="457200" indent="0">
              <a:lnSpc>
                <a:spcPts val="2400"/>
              </a:lnSpc>
              <a:buNone/>
              <a:defRPr lang="ru-RU" sz="2000"/>
            </a:lvl2pPr>
            <a:lvl3pPr marL="914400" indent="0">
              <a:lnSpc>
                <a:spcPts val="2400"/>
              </a:lnSpc>
              <a:buNone/>
              <a:defRPr lang="ru-RU" sz="2000"/>
            </a:lvl3pPr>
            <a:lvl4pPr marL="1371600" indent="0">
              <a:lnSpc>
                <a:spcPts val="2400"/>
              </a:lnSpc>
              <a:buNone/>
              <a:defRPr lang="ru-RU" sz="2000"/>
            </a:lvl4pPr>
            <a:lvl5pPr marL="1828800" indent="0">
              <a:lnSpc>
                <a:spcPts val="2400"/>
              </a:lnSpc>
              <a:buNone/>
              <a:defRPr lang="ru-RU" sz="2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  <p:pic>
        <p:nvPicPr>
          <p:cNvPr id="7" name="Графический объект 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ru-RU" sz="2800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ru-RU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ru-RU"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ru-RU"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ru-RU" sz="2000"/>
            </a:lvl5pPr>
            <a:lvl6pPr marL="1600200">
              <a:defRPr lang="ru-RU">
                <a:latin typeface="Calibri Light" panose="020F0302020204030204" pitchFamily="34" charset="0"/>
              </a:defRPr>
            </a:lvl6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4" rtl="0"/>
            <a:r>
              <a:rPr lang="ru-RU" dirty="0"/>
              <a:t>Четвертый уровень</a:t>
            </a:r>
          </a:p>
          <a:p>
            <a:pPr lvl="5" rtl="0"/>
            <a:r>
              <a:rPr lang="ru-RU" dirty="0"/>
              <a:t>Пятый уровень</a:t>
            </a:r>
          </a:p>
        </p:txBody>
      </p:sp>
      <p:sp>
        <p:nvSpPr>
          <p:cNvPr id="11" name="Объект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ru-RU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ru-RU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ru-RU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ru-RU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ru-RU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ru-RU" sz="2800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ru-RU"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lang="ru-RU"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lang="ru-RU"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lang="ru-RU"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Объект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ru-RU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ru-RU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ru-RU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ru-RU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ru-RU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ru-RU" sz="28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ru-RU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ru-RU" sz="28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 rtlCol="0"/>
          <a:lstStyle>
            <a:lvl1pPr>
              <a:spcBef>
                <a:spcPts val="0"/>
              </a:spcBef>
              <a:spcAft>
                <a:spcPts val="1200"/>
              </a:spcAft>
              <a:defRPr lang="ru-RU"/>
            </a:lvl1pPr>
            <a:lvl2pPr>
              <a:spcBef>
                <a:spcPts val="0"/>
              </a:spcBef>
              <a:spcAft>
                <a:spcPts val="600"/>
              </a:spcAft>
              <a:defRPr lang="ru-RU"/>
            </a:lvl2pPr>
            <a:lvl3pPr>
              <a:spcBef>
                <a:spcPts val="0"/>
              </a:spcBef>
              <a:spcAft>
                <a:spcPts val="600"/>
              </a:spcAft>
              <a:defRPr lang="ru-RU"/>
            </a:lvl3pPr>
            <a:lvl4pPr>
              <a:spcBef>
                <a:spcPts val="0"/>
              </a:spcBef>
              <a:spcAft>
                <a:spcPts val="600"/>
              </a:spcAft>
              <a:defRPr lang="ru-RU" sz="2000"/>
            </a:lvl4pPr>
            <a:lvl5pPr>
              <a:spcBef>
                <a:spcPts val="0"/>
              </a:spcBef>
              <a:spcAft>
                <a:spcPts val="600"/>
              </a:spcAft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ru-RU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Графический объект 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ru-RU" sz="2800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11" name="Объект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ru-RU"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ru-RU"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ru-RU"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ru-RU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ru-RU"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ru-RU"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ru-RU"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ru-RU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ru-RU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ru-RU" sz="2800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11" name="Объект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ru-RU"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ru-RU"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ru-RU"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ru-RU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ru-RU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лагодарность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Графический объект 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rtlCol="0" anchor="b">
            <a:normAutofit/>
          </a:bodyPr>
          <a:lstStyle>
            <a:lvl1pPr>
              <a:defRPr lang="ru-RU" sz="40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ru-RU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ru-RU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ru-RU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 </a:t>
            </a:r>
          </a:p>
          <a:p>
            <a:pPr lvl="3" rtl="0"/>
            <a:r>
              <a:rPr lang="ru-RU"/>
              <a:t>Четвертый уровень </a:t>
            </a:r>
          </a:p>
          <a:p>
            <a:pPr lvl="4" rtl="0"/>
            <a:r>
              <a:rPr lang="ru-RU"/>
              <a:t>Пятый уровень </a:t>
            </a:r>
          </a:p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rtlCol="0" anchor="b">
            <a:normAutofit/>
          </a:bodyPr>
          <a:lstStyle>
            <a:lvl1pPr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grpSp>
        <p:nvGrpSpPr>
          <p:cNvPr id="815" name="Группа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>
                <a:latin typeface="Calibri Light" panose="020F03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0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000" b="1">
                <a:solidFill>
                  <a:schemeClr val="tx1"/>
                </a:solidFill>
                <a:latin typeface="Calibri Light" panose="020F0302020204030204" pitchFamily="34" charset="0"/>
              </a:defRPr>
            </a:lvl1pPr>
          </a:lstStyle>
          <a:p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7436" y="553394"/>
            <a:ext cx="7464688" cy="2026808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algn="ctr" rtl="0">
              <a:lnSpc>
                <a:spcPct val="120000"/>
              </a:lnSpc>
            </a:pPr>
            <a:r>
              <a:rPr lang="ru-RU" dirty="0"/>
              <a:t>Техническая подготовка футболистов 12-13 лет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6FF978-3331-FC40-3A33-9B0E5470E0F2}"/>
              </a:ext>
            </a:extLst>
          </p:cNvPr>
          <p:cNvSpPr txBox="1"/>
          <p:nvPr/>
        </p:nvSpPr>
        <p:spPr>
          <a:xfrm>
            <a:off x="5641076" y="3526862"/>
            <a:ext cx="6093724" cy="2164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Исполнитель:</a:t>
            </a:r>
          </a:p>
          <a:p>
            <a:pPr algn="r">
              <a:lnSpc>
                <a:spcPct val="114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152-с группы</a:t>
            </a:r>
          </a:p>
          <a:p>
            <a:pPr algn="r">
              <a:lnSpc>
                <a:spcPct val="114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Благинин Константин Александрович</a:t>
            </a:r>
          </a:p>
          <a:p>
            <a:pPr algn="r">
              <a:lnSpc>
                <a:spcPct val="114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</a:t>
            </a:r>
          </a:p>
          <a:p>
            <a:pPr algn="r">
              <a:lnSpc>
                <a:spcPct val="114000"/>
              </a:lnSpc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Жавкин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Эдуард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Батыргалеевич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C5275-8E0F-2962-471B-211FB4993B3F}"/>
              </a:ext>
            </a:extLst>
          </p:cNvPr>
          <p:cNvSpPr txBox="1"/>
          <p:nvPr/>
        </p:nvSpPr>
        <p:spPr>
          <a:xfrm>
            <a:off x="7914817" y="6134343"/>
            <a:ext cx="24583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Шадринск, 2025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6599" y="2325903"/>
            <a:ext cx="8938319" cy="453209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indent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Перед собой мы ставили следующие </a:t>
            </a:r>
            <a:r>
              <a:rPr lang="ru-RU" sz="28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задачи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Проанализировать основные положения проведения учебно-тренировочного процесса футболистов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Изучить возрастные особенности развития футболистов 12-13 лет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Составить список упражнений направленных на развитие тактических навыков у обучающихся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F1BC93-2FBA-F053-5CD8-F49293777C7B}"/>
              </a:ext>
            </a:extLst>
          </p:cNvPr>
          <p:cNvSpPr txBox="1"/>
          <p:nvPr/>
        </p:nvSpPr>
        <p:spPr>
          <a:xfrm>
            <a:off x="635559" y="501342"/>
            <a:ext cx="101362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исследования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разработка и описание методических особенностей развития тактических навыков юных футболистов 12-13 лет</a:t>
            </a:r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F481802-F460-221A-25F0-CD68C9ECD2C6}"/>
              </a:ext>
            </a:extLst>
          </p:cNvPr>
          <p:cNvSpPr txBox="1"/>
          <p:nvPr/>
        </p:nvSpPr>
        <p:spPr>
          <a:xfrm>
            <a:off x="914400" y="1280517"/>
            <a:ext cx="5892420" cy="402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Техника — это совокупность специальных приёмов, используемых в игре в различных сочетаниях для достижения поставленной цели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CCF114B-4D32-D25A-56B3-7C502ACFA2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54" r="28985"/>
          <a:stretch/>
        </p:blipFill>
        <p:spPr>
          <a:xfrm>
            <a:off x="7610475" y="0"/>
            <a:ext cx="4581525" cy="6593269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7668E9CB-8D8A-8EE5-F112-AC931C4DB4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51D6AA66-EC20-FCAE-04B0-6BEB18463C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40657" y="604141"/>
            <a:ext cx="6500884" cy="5632886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algn="just" rtl="0">
              <a:lnSpc>
                <a:spcPct val="120000"/>
              </a:lnSpc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характеру игровой деятельности в технике футбола выделяются два крупных раздела: техника полевого игрока и вратаря. Они в свою очередь делятся на подразделы: техника передвижений и техника владения мячом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DBE568-8911-9BD4-3D53-57D117CD9E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612"/>
          <a:stretch/>
        </p:blipFill>
        <p:spPr>
          <a:xfrm>
            <a:off x="-15240" y="-47625"/>
            <a:ext cx="4581525" cy="6634798"/>
          </a:xfrm>
          <a:prstGeom prst="rect">
            <a:avLst/>
          </a:prstGeom>
        </p:spPr>
      </p:pic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73800293-58F6-9F80-774C-FA57DAFE4D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99142"/>
            <a:ext cx="3316406" cy="76017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4000" dirty="0"/>
              <a:t>Методика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546" y="900260"/>
            <a:ext cx="9239535" cy="5721627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indent="450215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Упражнения для ведения мяча</a:t>
            </a:r>
          </a:p>
          <a:p>
            <a:pPr marL="34290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Ведение мяча по прямой и по диагонали. </a:t>
            </a:r>
          </a:p>
          <a:p>
            <a:pPr marL="34290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Ведение мяча между препятствиями. </a:t>
            </a:r>
          </a:p>
          <a:p>
            <a:pPr marL="34290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Ведение мяча в ходьбе и в лёгком беге попеременно то правой, то левой ногой.   </a:t>
            </a:r>
          </a:p>
          <a:p>
            <a:pPr indent="450215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Упражнения для ударов по мячу</a:t>
            </a:r>
          </a:p>
          <a:p>
            <a:pPr marL="34290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Удары по мишеням. </a:t>
            </a:r>
          </a:p>
          <a:p>
            <a:pPr marL="34290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Удары по неподвижному мячу с разбега правой и левой ногой.   </a:t>
            </a:r>
          </a:p>
          <a:p>
            <a:pPr marL="34290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Удары внутренней и внешней стороной подъёма по мячу, катящемуся навстречу или сбоку.   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E9D38-BA22-81AA-9A42-250F27862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98226-EE31-46F2-424D-63CE85E22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99142"/>
            <a:ext cx="3316406" cy="76017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4000" dirty="0"/>
              <a:t>Методика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5FA44C-6A24-5346-1F18-D9D96D6CD9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547" y="900260"/>
            <a:ext cx="8352430" cy="5721627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indent="450215" algn="ctr">
              <a:lnSpc>
                <a:spcPct val="120000"/>
              </a:lnSpc>
              <a:spcAft>
                <a:spcPts val="800"/>
              </a:spcAft>
              <a:buNone/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Упражнения для остановок мяча</a:t>
            </a:r>
            <a:endParaRPr lang="ru-RU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Остановка мяча подошвой.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Остановка мяча грудью.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Остановка высоко летящего мяча грудью в прыжке.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lnSpc>
                <a:spcPct val="120000"/>
              </a:lnSpc>
              <a:spcAft>
                <a:spcPts val="800"/>
              </a:spcAft>
              <a:buNone/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Упражнения для финтов</a:t>
            </a:r>
            <a:endParaRPr lang="ru-RU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Финт «ложная остановка».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Финт «уход с мячом».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Финт «выпад в сторону».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6749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00591-7678-FB3B-3F54-2B03772A8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F73EE9E-9B6F-CC7A-2220-61D8971C6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2525" y="389621"/>
            <a:ext cx="7464688" cy="2026808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algn="ctr" rtl="0"/>
            <a:r>
              <a:rPr lang="ru-RU" dirty="0"/>
              <a:t>Техническая подготовка футболистов 12-13 лет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D601E-21FC-5F89-C4AD-F5AA3302A5B0}"/>
              </a:ext>
            </a:extLst>
          </p:cNvPr>
          <p:cNvSpPr txBox="1"/>
          <p:nvPr/>
        </p:nvSpPr>
        <p:spPr>
          <a:xfrm>
            <a:off x="5859803" y="3554158"/>
            <a:ext cx="6093724" cy="2164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Исполнитель:</a:t>
            </a:r>
          </a:p>
          <a:p>
            <a:pPr algn="r">
              <a:lnSpc>
                <a:spcPct val="114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152-с группы</a:t>
            </a:r>
          </a:p>
          <a:p>
            <a:pPr algn="r">
              <a:lnSpc>
                <a:spcPct val="114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Благинин Константин Александрович</a:t>
            </a:r>
          </a:p>
          <a:p>
            <a:pPr algn="r">
              <a:lnSpc>
                <a:spcPct val="114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</a:t>
            </a:r>
          </a:p>
          <a:p>
            <a:pPr algn="r">
              <a:lnSpc>
                <a:spcPct val="114000"/>
              </a:lnSpc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Жавкин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Эдуард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Батыргалеевич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E29C6-8D28-DF84-2C69-32F8D813748D}"/>
              </a:ext>
            </a:extLst>
          </p:cNvPr>
          <p:cNvSpPr txBox="1"/>
          <p:nvPr/>
        </p:nvSpPr>
        <p:spPr>
          <a:xfrm>
            <a:off x="8001968" y="6298116"/>
            <a:ext cx="24583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Шадринск, 2025</a:t>
            </a:r>
          </a:p>
        </p:txBody>
      </p:sp>
    </p:spTree>
    <p:extLst>
      <p:ext uri="{BB962C8B-B14F-4D97-AF65-F5344CB8AC3E}">
        <p14:creationId xmlns:p14="http://schemas.microsoft.com/office/powerpoint/2010/main" val="2839109155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ое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Calibri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2541_TF16411248_Win32" id="{DBDA4DF4-B7F3-40B9-BA39-B39EE2066FD1}" vid="{993DB5D8-ED76-4A15-9812-47B47D5CFB65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Архитектурная презентация</Template>
  <TotalTime>87</TotalTime>
  <Words>261</Words>
  <Application>Microsoft Office PowerPoint</Application>
  <PresentationFormat>Широкоэкранный</PresentationFormat>
  <Paragraphs>46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Posterama</vt:lpstr>
      <vt:lpstr>Symbol</vt:lpstr>
      <vt:lpstr>Times New Roman</vt:lpstr>
      <vt:lpstr>Пользовательское</vt:lpstr>
      <vt:lpstr>Техническая подготовка футболистов 12-13 лет</vt:lpstr>
      <vt:lpstr>Презентация PowerPoint</vt:lpstr>
      <vt:lpstr>Презентация PowerPoint</vt:lpstr>
      <vt:lpstr>Презентация PowerPoint</vt:lpstr>
      <vt:lpstr>Методика</vt:lpstr>
      <vt:lpstr>Методика</vt:lpstr>
      <vt:lpstr>Техническая подготовка футболистов 12-13 лет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Ignorant_Dreamer</dc:creator>
  <cp:lastModifiedBy>Ignorant_Dreamer</cp:lastModifiedBy>
  <cp:revision>7</cp:revision>
  <dcterms:created xsi:type="dcterms:W3CDTF">2025-06-10T19:29:06Z</dcterms:created>
  <dcterms:modified xsi:type="dcterms:W3CDTF">2025-06-10T20:57:17Z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