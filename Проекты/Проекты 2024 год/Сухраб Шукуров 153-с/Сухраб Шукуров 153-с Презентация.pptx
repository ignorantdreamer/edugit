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819979-BFEB-0BB7-15F7-0F0AAA948B42}"/>
              </a:ext>
            </a:extLst>
          </p:cNvPr>
          <p:cNvSpPr txBox="1"/>
          <p:nvPr/>
        </p:nvSpPr>
        <p:spPr>
          <a:xfrm>
            <a:off x="2637486" y="180696"/>
            <a:ext cx="69170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МИНИСТЕРСТВО ПРОСВЯЩЕНИЯ РОССИЙСКОЙ ФЕДЕРАЦИИ</a:t>
            </a:r>
          </a:p>
          <a:p>
            <a:pPr algn="ctr"/>
            <a:r>
              <a:rPr lang="ru-RU" sz="2000" dirty="0"/>
              <a:t>Федеральное государственное бюджетное учреждение</a:t>
            </a:r>
          </a:p>
          <a:p>
            <a:pPr algn="ctr"/>
            <a:r>
              <a:rPr lang="ru-RU" sz="2000" dirty="0"/>
              <a:t>высшего образования</a:t>
            </a:r>
          </a:p>
          <a:p>
            <a:pPr algn="ctr"/>
            <a:r>
              <a:rPr lang="ru-RU" sz="2000" dirty="0"/>
              <a:t>«Шадринский государственный педагогический университет»</a:t>
            </a:r>
          </a:p>
          <a:p>
            <a:pPr algn="ctr"/>
            <a:r>
              <a:rPr lang="ru-RU" sz="2000" dirty="0"/>
              <a:t>Университетский колледж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77FE0-95A2-9D70-E844-2133CEB5A7A8}"/>
              </a:ext>
            </a:extLst>
          </p:cNvPr>
          <p:cNvSpPr txBox="1"/>
          <p:nvPr/>
        </p:nvSpPr>
        <p:spPr>
          <a:xfrm>
            <a:off x="2498002" y="2690336"/>
            <a:ext cx="71959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Проведение утренней гимнастики в дошкольной организации с детьми</a:t>
            </a:r>
          </a:p>
          <a:p>
            <a:pPr algn="ctr"/>
            <a:r>
              <a:rPr lang="ru-RU" sz="2400" b="1" dirty="0"/>
              <a:t>логопедических групп возраста 4-5 лет</a:t>
            </a:r>
          </a:p>
          <a:p>
            <a:pPr algn="ctr"/>
            <a:r>
              <a:rPr lang="ru-RU" sz="2400" dirty="0"/>
              <a:t>Индивидуальный проект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FCCAA-1C4C-82D2-0E2E-527563E94EEA}"/>
              </a:ext>
            </a:extLst>
          </p:cNvPr>
          <p:cNvSpPr txBox="1"/>
          <p:nvPr/>
        </p:nvSpPr>
        <p:spPr>
          <a:xfrm>
            <a:off x="770859" y="4519644"/>
            <a:ext cx="610790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Исполнитель:</a:t>
            </a:r>
          </a:p>
          <a:p>
            <a:r>
              <a:rPr lang="ru-RU" sz="2000" dirty="0"/>
              <a:t>студент 153-с группы</a:t>
            </a:r>
          </a:p>
          <a:p>
            <a:r>
              <a:rPr lang="ru-RU" sz="2000" dirty="0"/>
              <a:t>Шукуров </a:t>
            </a:r>
            <a:r>
              <a:rPr lang="ru-RU" sz="2000" dirty="0" err="1"/>
              <a:t>Сухраб</a:t>
            </a:r>
            <a:r>
              <a:rPr lang="ru-RU" sz="2000" dirty="0"/>
              <a:t> </a:t>
            </a:r>
            <a:r>
              <a:rPr lang="ru-RU" sz="2000" dirty="0" err="1"/>
              <a:t>Сабурович</a:t>
            </a:r>
            <a:endParaRPr lang="ru-RU" sz="2000" dirty="0"/>
          </a:p>
          <a:p>
            <a:r>
              <a:rPr lang="ru-RU" sz="2000" dirty="0"/>
              <a:t>Научный руководитель:</a:t>
            </a:r>
          </a:p>
          <a:p>
            <a:r>
              <a:rPr lang="ru-RU" sz="2000" dirty="0" err="1"/>
              <a:t>Плещев</a:t>
            </a:r>
            <a:r>
              <a:rPr lang="ru-RU" sz="2000" dirty="0"/>
              <a:t> Алексей Михайлович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2FC079-5826-61CC-9D18-A159BFC4B04B}"/>
              </a:ext>
            </a:extLst>
          </p:cNvPr>
          <p:cNvSpPr txBox="1"/>
          <p:nvPr/>
        </p:nvSpPr>
        <p:spPr>
          <a:xfrm>
            <a:off x="4982007" y="6307972"/>
            <a:ext cx="1946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Шадринск, 2024</a:t>
            </a:r>
          </a:p>
        </p:txBody>
      </p:sp>
    </p:spTree>
    <p:extLst>
      <p:ext uri="{BB962C8B-B14F-4D97-AF65-F5344CB8AC3E}">
        <p14:creationId xmlns:p14="http://schemas.microsoft.com/office/powerpoint/2010/main" val="4168587070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038F9B-0BFD-66AB-CA2D-52C0CA13C00A}"/>
              </a:ext>
            </a:extLst>
          </p:cNvPr>
          <p:cNvSpPr txBox="1"/>
          <p:nvPr/>
        </p:nvSpPr>
        <p:spPr>
          <a:xfrm>
            <a:off x="449450" y="263932"/>
            <a:ext cx="8539567" cy="518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800" dirty="0"/>
              <a:t>Перед собой мы ставили следующие задачи:</a:t>
            </a:r>
          </a:p>
          <a:p>
            <a:pPr algn="just">
              <a:lnSpc>
                <a:spcPct val="150000"/>
              </a:lnSpc>
            </a:pPr>
            <a:r>
              <a:rPr lang="ru-RU" sz="2800" dirty="0"/>
              <a:t>1. Изучить научно-методическую литературу по исследуемой теме проекта.</a:t>
            </a:r>
          </a:p>
          <a:p>
            <a:pPr algn="just">
              <a:lnSpc>
                <a:spcPct val="150000"/>
              </a:lnSpc>
            </a:pPr>
            <a:r>
              <a:rPr lang="ru-RU" sz="2800" dirty="0"/>
              <a:t>2. Проанализировать особенности работы с детьми, состоящих в логопедических группах.</a:t>
            </a:r>
          </a:p>
          <a:p>
            <a:pPr algn="just">
              <a:lnSpc>
                <a:spcPct val="150000"/>
              </a:lnSpc>
            </a:pPr>
            <a:r>
              <a:rPr lang="ru-RU" sz="2800" dirty="0"/>
              <a:t>3. Разработать комплекс упражнений утренней гимнастики для детей дошкольной организации логопедических групп</a:t>
            </a:r>
          </a:p>
        </p:txBody>
      </p:sp>
    </p:spTree>
    <p:extLst>
      <p:ext uri="{BB962C8B-B14F-4D97-AF65-F5344CB8AC3E}">
        <p14:creationId xmlns:p14="http://schemas.microsoft.com/office/powerpoint/2010/main" val="401198377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8AD19A-C454-E017-7BDC-9A9EAE257AEB}"/>
              </a:ext>
            </a:extLst>
          </p:cNvPr>
          <p:cNvSpPr txBox="1"/>
          <p:nvPr/>
        </p:nvSpPr>
        <p:spPr>
          <a:xfrm>
            <a:off x="433952" y="329866"/>
            <a:ext cx="7950631" cy="612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200" dirty="0"/>
              <a:t>Задачи утренней гимнастики:</a:t>
            </a:r>
          </a:p>
          <a:p>
            <a:pPr>
              <a:lnSpc>
                <a:spcPct val="150000"/>
              </a:lnSpc>
            </a:pPr>
            <a:r>
              <a:rPr lang="ru-RU" sz="2200" dirty="0"/>
              <a:t>- укрепление здоровья;</a:t>
            </a:r>
          </a:p>
          <a:p>
            <a:pPr>
              <a:lnSpc>
                <a:spcPct val="150000"/>
              </a:lnSpc>
            </a:pPr>
            <a:r>
              <a:rPr lang="ru-RU" sz="2200" dirty="0"/>
              <a:t>- физическое совершенствование;</a:t>
            </a:r>
          </a:p>
          <a:p>
            <a:pPr>
              <a:lnSpc>
                <a:spcPct val="150000"/>
              </a:lnSpc>
            </a:pPr>
            <a:r>
              <a:rPr lang="ru-RU" sz="2200" dirty="0"/>
              <a:t>- разносторонняя физическая подготовленность ребёнка к многообразной деятельности.</a:t>
            </a:r>
          </a:p>
          <a:p>
            <a:pPr>
              <a:lnSpc>
                <a:spcPct val="150000"/>
              </a:lnSpc>
            </a:pPr>
            <a:r>
              <a:rPr lang="ru-RU" sz="2200" dirty="0"/>
              <a:t>Также гимнастика имеет большое воспитательное значение:</a:t>
            </a:r>
          </a:p>
          <a:p>
            <a:pPr>
              <a:lnSpc>
                <a:spcPct val="150000"/>
              </a:lnSpc>
            </a:pPr>
            <a:r>
              <a:rPr lang="ru-RU" sz="2200" dirty="0"/>
              <a:t>- воспитывает привычку ежедневно выполнять физические упражнения;</a:t>
            </a:r>
          </a:p>
          <a:p>
            <a:pPr>
              <a:lnSpc>
                <a:spcPct val="150000"/>
              </a:lnSpc>
            </a:pPr>
            <a:r>
              <a:rPr lang="ru-RU" sz="2200" dirty="0"/>
              <a:t>- способствует чёткому выполнению режима дня;</a:t>
            </a:r>
          </a:p>
          <a:p>
            <a:pPr>
              <a:lnSpc>
                <a:spcPct val="150000"/>
              </a:lnSpc>
            </a:pPr>
            <a:r>
              <a:rPr lang="ru-RU" sz="2200" dirty="0"/>
              <a:t>- учит согласованно действовать в коллективе, быть внимательным, выдержанным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D19B5A5-375A-BFC2-38BA-11B136BC8B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47" r="23276" b="12316"/>
          <a:stretch/>
        </p:blipFill>
        <p:spPr>
          <a:xfrm>
            <a:off x="8176343" y="81368"/>
            <a:ext cx="3287237" cy="3347632"/>
          </a:xfrm>
          <a:prstGeom prst="ellipse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54C9D6B-35D6-59EF-3F15-1C62CBDD8C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43" r="26397"/>
          <a:stretch/>
        </p:blipFill>
        <p:spPr>
          <a:xfrm>
            <a:off x="8904763" y="3347632"/>
            <a:ext cx="3287237" cy="3429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1897481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947970-F33C-6D26-B317-D6B88C6501A2}"/>
              </a:ext>
            </a:extLst>
          </p:cNvPr>
          <p:cNvSpPr txBox="1"/>
          <p:nvPr/>
        </p:nvSpPr>
        <p:spPr>
          <a:xfrm>
            <a:off x="573436" y="364805"/>
            <a:ext cx="7671661" cy="5564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/>
              <a:t>Особенности проведения утренней гимнастики включают в себя: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ru-RU" sz="2400" dirty="0"/>
              <a:t>Индивидуальный подход. 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ru-RU" sz="2400" dirty="0"/>
              <a:t>Использование различных игровых форм. </a:t>
            </a:r>
          </a:p>
          <a:p>
            <a:pPr algn="just">
              <a:lnSpc>
                <a:spcPct val="150000"/>
              </a:lnSpc>
            </a:pPr>
            <a:r>
              <a:rPr lang="ru-RU" sz="2400" dirty="0"/>
              <a:t>- Обязательное включение упражнений для развития речи.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ru-RU" sz="2400" dirty="0"/>
              <a:t>Соблюдение регулярности занятий. </a:t>
            </a:r>
          </a:p>
          <a:p>
            <a:pPr algn="just">
              <a:lnSpc>
                <a:spcPct val="150000"/>
              </a:lnSpc>
            </a:pPr>
            <a:r>
              <a:rPr lang="ru-RU" sz="2400" dirty="0"/>
              <a:t>- Совместная работа с педагогами и логопедами. Важно, чтобы утренняя гимнастика проводилась в тесном сотрудничестве с педагогами и логопедами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06C707-D1DA-580A-96D2-65B17FABD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615" y="0"/>
            <a:ext cx="3688595" cy="3730105"/>
          </a:xfrm>
          <a:prstGeom prst="ellipse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2A8D04C-D823-0974-D6AD-30B43D3AB3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3" t="6878" r="30708"/>
          <a:stretch/>
        </p:blipFill>
        <p:spPr>
          <a:xfrm>
            <a:off x="8989017" y="3730105"/>
            <a:ext cx="3202983" cy="312206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5920281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2E476F-1BDC-E8C8-2080-C5F27318B84A}"/>
              </a:ext>
            </a:extLst>
          </p:cNvPr>
          <p:cNvSpPr txBox="1"/>
          <p:nvPr/>
        </p:nvSpPr>
        <p:spPr>
          <a:xfrm>
            <a:off x="666427" y="465410"/>
            <a:ext cx="6106332" cy="4456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Методика занятий утренней гимнастикой включает в себя следующие элементы: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- Разминка.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- Упражнения на развитие координации движений.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- Дыхательные упражнения.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- Элементы йоги и релаксации.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- Игровые упражнения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2E1B3D-DF12-A509-094F-0E3C44397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5064" y="0"/>
            <a:ext cx="3636936" cy="3572359"/>
          </a:xfrm>
          <a:prstGeom prst="ellipse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E57CBDF-929B-A7E5-24C2-26A54F7C58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47" r="19680"/>
          <a:stretch/>
        </p:blipFill>
        <p:spPr>
          <a:xfrm>
            <a:off x="9062662" y="3851698"/>
            <a:ext cx="3129338" cy="3006302"/>
          </a:xfrm>
          <a:prstGeom prst="ellipse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02A7CED-0603-F86C-B125-253AEC3DE3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515" r="14796"/>
          <a:stretch/>
        </p:blipFill>
        <p:spPr>
          <a:xfrm>
            <a:off x="6096000" y="2693648"/>
            <a:ext cx="2722618" cy="280850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4551353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70E43804-B3F0-9DDB-0C22-648FFEA5D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99552"/>
              </p:ext>
            </p:extLst>
          </p:nvPr>
        </p:nvGraphicFramePr>
        <p:xfrm>
          <a:off x="-1" y="0"/>
          <a:ext cx="12192000" cy="68579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5465">
                  <a:extLst>
                    <a:ext uri="{9D8B030D-6E8A-4147-A177-3AD203B41FA5}">
                      <a16:colId xmlns:a16="http://schemas.microsoft.com/office/drawing/2014/main" val="941778875"/>
                    </a:ext>
                  </a:extLst>
                </a:gridCol>
                <a:gridCol w="6245817">
                  <a:extLst>
                    <a:ext uri="{9D8B030D-6E8A-4147-A177-3AD203B41FA5}">
                      <a16:colId xmlns:a16="http://schemas.microsoft.com/office/drawing/2014/main" val="3732445213"/>
                    </a:ext>
                  </a:extLst>
                </a:gridCol>
                <a:gridCol w="2076773">
                  <a:extLst>
                    <a:ext uri="{9D8B030D-6E8A-4147-A177-3AD203B41FA5}">
                      <a16:colId xmlns:a16="http://schemas.microsoft.com/office/drawing/2014/main" val="1624601155"/>
                    </a:ext>
                  </a:extLst>
                </a:gridCol>
                <a:gridCol w="1332854">
                  <a:extLst>
                    <a:ext uri="{9D8B030D-6E8A-4147-A177-3AD203B41FA5}">
                      <a16:colId xmlns:a16="http://schemas.microsoft.com/office/drawing/2014/main" val="2475269389"/>
                    </a:ext>
                  </a:extLst>
                </a:gridCol>
                <a:gridCol w="2211091">
                  <a:extLst>
                    <a:ext uri="{9D8B030D-6E8A-4147-A177-3AD203B41FA5}">
                      <a16:colId xmlns:a16="http://schemas.microsoft.com/office/drawing/2014/main" val="530060126"/>
                    </a:ext>
                  </a:extLst>
                </a:gridCol>
              </a:tblGrid>
              <a:tr h="63703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№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Содержание движений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Речь педагога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Дозировка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Методические рекомендации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extLst>
                  <a:ext uri="{0D108BD9-81ED-4DB2-BD59-A6C34878D82A}">
                    <a16:rowId xmlns:a16="http://schemas.microsoft.com/office/drawing/2014/main" val="1157550254"/>
                  </a:ext>
                </a:extLst>
              </a:tr>
              <a:tr h="142909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1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 err="1">
                          <a:effectLst/>
                        </a:rPr>
                        <a:t>И.п</a:t>
                      </a:r>
                      <a:r>
                        <a:rPr lang="ru-RU" sz="1600" kern="100" dirty="0">
                          <a:effectLst/>
                        </a:rPr>
                        <a:t>.: стоя, ноги на ширине плеч. Руки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опущены. 1 – 2 развести руки в стороны, имитируя потягивания</a:t>
                      </a:r>
                    </a:p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3 – 4 вернуться в </a:t>
                      </a:r>
                      <a:r>
                        <a:rPr lang="ru-RU" sz="1600" kern="100" dirty="0" err="1">
                          <a:effectLst/>
                        </a:rPr>
                        <a:t>И.п</a:t>
                      </a:r>
                      <a:r>
                        <a:rPr lang="ru-RU" sz="1600" kern="100" dirty="0">
                          <a:effectLst/>
                        </a:rPr>
                        <a:t>.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Утром рано мы проснулись – Хорошенько потянулись.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3-4 повтора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Как можно дальше отводить руки назад.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extLst>
                  <a:ext uri="{0D108BD9-81ED-4DB2-BD59-A6C34878D82A}">
                    <a16:rowId xmlns:a16="http://schemas.microsoft.com/office/drawing/2014/main" val="2681268432"/>
                  </a:ext>
                </a:extLst>
              </a:tr>
              <a:tr h="969786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2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 err="1">
                          <a:effectLst/>
                        </a:rPr>
                        <a:t>И.п</a:t>
                      </a:r>
                      <a:r>
                        <a:rPr lang="ru-RU" sz="1600" kern="100" dirty="0">
                          <a:effectLst/>
                        </a:rPr>
                        <a:t>.: стоя ноги на ширине плеч, руки на поясе 1 – 2 шаг вправо, правой рукой через верх потянуться вправо. 3 – 4 вернуться в </a:t>
                      </a:r>
                      <a:r>
                        <a:rPr lang="ru-RU" sz="1600" kern="100" dirty="0" err="1">
                          <a:effectLst/>
                        </a:rPr>
                        <a:t>И.п</a:t>
                      </a:r>
                      <a:r>
                        <a:rPr lang="ru-RU" sz="1600" kern="100" dirty="0">
                          <a:effectLst/>
                        </a:rPr>
                        <a:t>. То же влево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Открываем шторы.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5-6 повторов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Корпус тянется за рукой.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extLst>
                  <a:ext uri="{0D108BD9-81ED-4DB2-BD59-A6C34878D82A}">
                    <a16:rowId xmlns:a16="http://schemas.microsoft.com/office/drawing/2014/main" val="2287103826"/>
                  </a:ext>
                </a:extLst>
              </a:tr>
              <a:tr h="1403807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3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 err="1">
                          <a:effectLst/>
                        </a:rPr>
                        <a:t>И.п</a:t>
                      </a:r>
                      <a:r>
                        <a:rPr lang="ru-RU" sz="1600" kern="100" dirty="0">
                          <a:effectLst/>
                        </a:rPr>
                        <a:t>.: стоя ноги на ширине плеч, руки на пояс. 1 опустить голову, правой рукой имитировать умывание 2 вернуться в </a:t>
                      </a:r>
                      <a:r>
                        <a:rPr lang="ru-RU" sz="1600" kern="100" dirty="0" err="1">
                          <a:effectLst/>
                        </a:rPr>
                        <a:t>И.п</a:t>
                      </a:r>
                      <a:r>
                        <a:rPr lang="ru-RU" sz="1600" kern="100" dirty="0">
                          <a:effectLst/>
                        </a:rPr>
                        <a:t>. 3 опустить голову, левой рукой имитировать умывание 4 вернуться в </a:t>
                      </a:r>
                      <a:r>
                        <a:rPr lang="ru-RU" sz="1600" kern="100" dirty="0" err="1">
                          <a:effectLst/>
                        </a:rPr>
                        <a:t>И.п</a:t>
                      </a:r>
                      <a:r>
                        <a:rPr lang="ru-RU" sz="1600" kern="100" dirty="0">
                          <a:effectLst/>
                        </a:rPr>
                        <a:t>.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Надо – надо умываться!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5-6 повторов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Максимально опускать подбородок к груди. Спина прямая.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extLst>
                  <a:ext uri="{0D108BD9-81ED-4DB2-BD59-A6C34878D82A}">
                    <a16:rowId xmlns:a16="http://schemas.microsoft.com/office/drawing/2014/main" val="4167070502"/>
                  </a:ext>
                </a:extLst>
              </a:tr>
              <a:tr h="1045178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4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 err="1">
                          <a:effectLst/>
                        </a:rPr>
                        <a:t>И.п</a:t>
                      </a:r>
                      <a:r>
                        <a:rPr lang="ru-RU" sz="1600" kern="100" dirty="0">
                          <a:effectLst/>
                        </a:rPr>
                        <a:t>.: стоя ноги шире, чем ширина плеч. Руки на пояс. 1 – 3 потянуться вперед, руки параллельно полу. 4 вернуться в </a:t>
                      </a:r>
                      <a:r>
                        <a:rPr lang="ru-RU" sz="1600" kern="100" dirty="0" err="1">
                          <a:effectLst/>
                        </a:rPr>
                        <a:t>И.п</a:t>
                      </a:r>
                      <a:r>
                        <a:rPr lang="ru-RU" sz="1600" kern="100" dirty="0">
                          <a:effectLst/>
                        </a:rPr>
                        <a:t>.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Достанем конфетки с дальней полки.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5-6 повторов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Ноги с места не сдвигать, голову не опускать.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extLst>
                  <a:ext uri="{0D108BD9-81ED-4DB2-BD59-A6C34878D82A}">
                    <a16:rowId xmlns:a16="http://schemas.microsoft.com/office/drawing/2014/main" val="716563936"/>
                  </a:ext>
                </a:extLst>
              </a:tr>
              <a:tr h="68655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5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И.п.: стоя, ноги на ширине плеч, руки на пояс. 1 – 2 присесть, руки вытянуть вперед. 3 – 4 вернуться в И.п.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Разминаем ножки.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8-10 повторов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Спина прямая.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extLst>
                  <a:ext uri="{0D108BD9-81ED-4DB2-BD59-A6C34878D82A}">
                    <a16:rowId xmlns:a16="http://schemas.microsoft.com/office/drawing/2014/main" val="2609020163"/>
                  </a:ext>
                </a:extLst>
              </a:tr>
              <a:tr h="686550"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6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  <a:tabLst>
                          <a:tab pos="857250" algn="l"/>
                        </a:tabLst>
                      </a:pPr>
                      <a:r>
                        <a:rPr lang="ru-RU" sz="1600" kern="100">
                          <a:effectLst/>
                        </a:rPr>
                        <a:t>И.п. стоя, ноги на ширине плеч, руки вдоль тела согнуть в локтях Бег на месте максимально быстро.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Побежали в детский сад.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>
                          <a:effectLst/>
                        </a:rPr>
                        <a:t>3 серии по 10 сек.</a:t>
                      </a:r>
                      <a:endParaRPr lang="ru-RU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  <a:spcAft>
                          <a:spcPts val="800"/>
                        </a:spcAft>
                      </a:pPr>
                      <a:r>
                        <a:rPr lang="ru-RU" sz="1600" kern="100" dirty="0">
                          <a:effectLst/>
                        </a:rPr>
                        <a:t>На месте!</a:t>
                      </a:r>
                      <a:endParaRPr lang="ru-RU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4070" marR="24070" marT="0" marB="0"/>
                </a:tc>
                <a:extLst>
                  <a:ext uri="{0D108BD9-81ED-4DB2-BD59-A6C34878D82A}">
                    <a16:rowId xmlns:a16="http://schemas.microsoft.com/office/drawing/2014/main" val="2002308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649319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819979-BFEB-0BB7-15F7-0F0AAA948B42}"/>
              </a:ext>
            </a:extLst>
          </p:cNvPr>
          <p:cNvSpPr txBox="1"/>
          <p:nvPr/>
        </p:nvSpPr>
        <p:spPr>
          <a:xfrm>
            <a:off x="2637486" y="180696"/>
            <a:ext cx="691702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МИНИСТЕРСТВО ПРОСВЯЩЕНИЯ РОССИЙСКОЙ ФЕДЕРАЦИИ</a:t>
            </a:r>
          </a:p>
          <a:p>
            <a:pPr algn="ctr"/>
            <a:r>
              <a:rPr lang="ru-RU" sz="2000" dirty="0"/>
              <a:t>Федеральное государственное бюджетное учреждение</a:t>
            </a:r>
          </a:p>
          <a:p>
            <a:pPr algn="ctr"/>
            <a:r>
              <a:rPr lang="ru-RU" sz="2000" dirty="0"/>
              <a:t>высшего образования</a:t>
            </a:r>
          </a:p>
          <a:p>
            <a:pPr algn="ctr"/>
            <a:r>
              <a:rPr lang="ru-RU" sz="2000" dirty="0"/>
              <a:t>«Шадринский государственный педагогический университет»</a:t>
            </a:r>
          </a:p>
          <a:p>
            <a:pPr algn="ctr"/>
            <a:r>
              <a:rPr lang="ru-RU" sz="2000" dirty="0"/>
              <a:t>Университетский колледж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77FE0-95A2-9D70-E844-2133CEB5A7A8}"/>
              </a:ext>
            </a:extLst>
          </p:cNvPr>
          <p:cNvSpPr txBox="1"/>
          <p:nvPr/>
        </p:nvSpPr>
        <p:spPr>
          <a:xfrm>
            <a:off x="2498002" y="2690336"/>
            <a:ext cx="71959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Проведение утренней гимнастики в дошкольной организации с детьми</a:t>
            </a:r>
          </a:p>
          <a:p>
            <a:pPr algn="ctr"/>
            <a:r>
              <a:rPr lang="ru-RU" sz="2400" b="1" dirty="0"/>
              <a:t>логопедических групп возраста 4-5 лет</a:t>
            </a:r>
          </a:p>
          <a:p>
            <a:pPr algn="ctr"/>
            <a:r>
              <a:rPr lang="ru-RU" sz="2400" dirty="0"/>
              <a:t>Индивидуальный проект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FCCAA-1C4C-82D2-0E2E-527563E94EEA}"/>
              </a:ext>
            </a:extLst>
          </p:cNvPr>
          <p:cNvSpPr txBox="1"/>
          <p:nvPr/>
        </p:nvSpPr>
        <p:spPr>
          <a:xfrm>
            <a:off x="770859" y="4519644"/>
            <a:ext cx="610790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Исполнитель:</a:t>
            </a:r>
          </a:p>
          <a:p>
            <a:r>
              <a:rPr lang="ru-RU" sz="2000" dirty="0"/>
              <a:t>студент 153-с группы</a:t>
            </a:r>
          </a:p>
          <a:p>
            <a:r>
              <a:rPr lang="ru-RU" sz="2000" dirty="0"/>
              <a:t>Шукуров </a:t>
            </a:r>
            <a:r>
              <a:rPr lang="ru-RU" sz="2000" dirty="0" err="1"/>
              <a:t>Сухраб</a:t>
            </a:r>
            <a:r>
              <a:rPr lang="ru-RU" sz="2000" dirty="0"/>
              <a:t> </a:t>
            </a:r>
            <a:r>
              <a:rPr lang="ru-RU" sz="2000" dirty="0" err="1"/>
              <a:t>Сабурович</a:t>
            </a:r>
            <a:endParaRPr lang="ru-RU" sz="2000" dirty="0"/>
          </a:p>
          <a:p>
            <a:r>
              <a:rPr lang="ru-RU" sz="2000" dirty="0"/>
              <a:t>Научный руководитель:</a:t>
            </a:r>
          </a:p>
          <a:p>
            <a:r>
              <a:rPr lang="ru-RU" sz="2000" dirty="0" err="1"/>
              <a:t>Плещев</a:t>
            </a:r>
            <a:r>
              <a:rPr lang="ru-RU" sz="2000" dirty="0"/>
              <a:t> Алексей Михайлович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2FC079-5826-61CC-9D18-A159BFC4B04B}"/>
              </a:ext>
            </a:extLst>
          </p:cNvPr>
          <p:cNvSpPr txBox="1"/>
          <p:nvPr/>
        </p:nvSpPr>
        <p:spPr>
          <a:xfrm>
            <a:off x="4982007" y="6307972"/>
            <a:ext cx="1946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Шадринск, 2024</a:t>
            </a:r>
          </a:p>
        </p:txBody>
      </p:sp>
    </p:spTree>
    <p:extLst>
      <p:ext uri="{BB962C8B-B14F-4D97-AF65-F5344CB8AC3E}">
        <p14:creationId xmlns:p14="http://schemas.microsoft.com/office/powerpoint/2010/main" val="174394572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</TotalTime>
  <Words>580</Words>
  <Application>Microsoft Office PowerPoint</Application>
  <PresentationFormat>Широкоэкранный</PresentationFormat>
  <Paragraphs>89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Ignorant_Dreamer</dc:creator>
  <cp:lastModifiedBy>Ignorant_Dreamer</cp:lastModifiedBy>
  <cp:revision>5</cp:revision>
  <dcterms:created xsi:type="dcterms:W3CDTF">2024-06-16T18:27:00Z</dcterms:created>
  <dcterms:modified xsi:type="dcterms:W3CDTF">2024-06-17T03:41:27Z</dcterms:modified>
</cp:coreProperties>
</file>