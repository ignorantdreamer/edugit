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7" r:id="rId5"/>
    <p:sldId id="258" r:id="rId6"/>
    <p:sldId id="272" r:id="rId7"/>
    <p:sldId id="273" r:id="rId8"/>
    <p:sldId id="262" r:id="rId9"/>
    <p:sldId id="275" r:id="rId10"/>
    <p:sldId id="274" r:id="rId1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36" autoAdjust="0"/>
  </p:normalViewPr>
  <p:slideViewPr>
    <p:cSldViewPr snapToGrid="0">
      <p:cViewPr varScale="1">
        <p:scale>
          <a:sx n="100" d="100"/>
          <a:sy n="100" d="100"/>
        </p:scale>
        <p:origin x="89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332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42A70936-F116-402D-B40E-FA07F69C8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57DC11-F831-449C-ADEB-077CA72462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0070C-37B4-449D-86BF-E4931F16635D}" type="datetime1">
              <a:rPr lang="ru-RU" smtClean="0"/>
              <a:t>19.06.2024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55BB2D-59EC-48D8-AE8C-86817B8A9C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E6234F-8955-40F7-A434-EED4ABD6D5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59A75-79D7-4EDD-82CB-5414B3B1D6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1858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54AC323-B726-4D2A-939E-BBCDB67E5B76}" type="datetime1">
              <a:rPr lang="ru-RU" noProof="0" smtClean="0"/>
              <a:t>19.06.2024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60C6D3C-9EB0-4F2C-9026-3887D1CDB44E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377631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649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891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60C6D3C-9EB0-4F2C-9026-3887D1CDB44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303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243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rtlCol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Перетащите сюда </a:t>
            </a:r>
            <a:br>
              <a:rPr lang="ru-RU" noProof="0"/>
            </a:br>
            <a:r>
              <a:rPr lang="ru-RU" noProof="0"/>
              <a:t>свою фоновую фотографию</a:t>
            </a: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rtlCol="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rtlCol="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42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DA75689F-8B6B-4484-8064-90B4D8FB7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7343" y="2731933"/>
            <a:ext cx="6903253" cy="3350673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576000" tIns="1872000" rIns="576000" rtlCol="0"/>
          <a:lstStyle>
            <a:lvl1pPr marL="0" indent="0">
              <a:lnSpc>
                <a:spcPts val="2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Опишите свою главную идею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C57B9832-0120-4094-8C27-082E3533C5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0" tIns="0" rIns="612000" rtlCol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Перетащите сюда </a:t>
            </a:r>
            <a:br>
              <a:rPr lang="ru-RU" noProof="0"/>
            </a:br>
            <a:r>
              <a:rPr lang="ru-RU" noProof="0"/>
              <a:t>свою фоновую фотографию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3999" y="6262080"/>
            <a:ext cx="6190934" cy="360000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2"/>
          </a:solidFill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EAF90A48-1BFB-4A19-9A1C-2851879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778" y="3096087"/>
            <a:ext cx="5455750" cy="1008000"/>
          </a:xfrm>
        </p:spPr>
        <p:txBody>
          <a:bodyPr rtlCol="0"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C9E79024-4B2E-43B0-8607-196181AB731F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365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чисел со значко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rtlCol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Перетащите сюда </a:t>
            </a:r>
            <a:br>
              <a:rPr lang="ru-RU" noProof="0"/>
            </a:br>
            <a:r>
              <a:rPr lang="ru-RU" noProof="0"/>
              <a:t>свою фоновую фотографию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 rtlCol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9" name="Полилиния: фигура 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9F266E5-40A6-4643-B9AC-B38F272563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rtlCol="0"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ЧИСЛО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1CB790CB-E4F5-4B61-A03E-1CA0C32E3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455" y="3799847"/>
            <a:ext cx="1999889" cy="846137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B570684C-B743-402E-8778-A6519957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10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rtlCol="0"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ЧИСЛО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id="{FCEC7149-9A00-4CA4-B800-1BFD6EBEB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255" y="3799847"/>
            <a:ext cx="1999889" cy="846137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0374F0E2-36BA-43B5-8799-77AA3367DF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9707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rtlCol="0"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ЧИСЛО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1BA12174-6A24-4E61-8D58-B3B42C31BE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56" y="3799847"/>
            <a:ext cx="1999889" cy="846137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D3A67B21-0E8B-4922-94F9-20492309C4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46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rtlCol="0"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ЧИСЛО</a:t>
            </a:r>
          </a:p>
        </p:txBody>
      </p:sp>
      <p:sp>
        <p:nvSpPr>
          <p:cNvPr id="17" name="Текст 10">
            <a:extLst>
              <a:ext uri="{FF2B5EF4-FFF2-40B4-BE49-F238E27FC236}">
                <a16:creationId xmlns:a16="http://schemas.microsoft.com/office/drawing/2014/main" id="{D801C20C-82D2-465E-8D45-DF1A57E045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0855" y="3799847"/>
            <a:ext cx="1999889" cy="846137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62BAD45E-2039-4F8D-9CFC-42BFA3756A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31412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rtlCol="0"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ЧИСЛО</a:t>
            </a:r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64A78879-6338-4F3B-864E-8FF4E08C0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57654" y="3799847"/>
            <a:ext cx="1999889" cy="846137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80118439-B306-4F20-9200-1C429EADC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000" y="5271502"/>
            <a:ext cx="1990001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0" rtlCol="0" anchor="ctr"/>
          <a:lstStyle>
            <a:lvl1pPr marL="0" indent="0" algn="ctr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Результат</a:t>
            </a:r>
          </a:p>
        </p:txBody>
      </p:sp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99B7E7F2-DF6B-4441-B0B1-7E87E29BA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98550" y="2217585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27" name="Рисунок 25">
            <a:extLst>
              <a:ext uri="{FF2B5EF4-FFF2-40B4-BE49-F238E27FC236}">
                <a16:creationId xmlns:a16="http://schemas.microsoft.com/office/drawing/2014/main" id="{ED41522A-FBAF-4E5D-B592-F13855964E8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5350" y="2217585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28" name="Рисунок 25">
            <a:extLst>
              <a:ext uri="{FF2B5EF4-FFF2-40B4-BE49-F238E27FC236}">
                <a16:creationId xmlns:a16="http://schemas.microsoft.com/office/drawing/2014/main" id="{AA51069C-E1DC-44A0-A6A0-2A4AB0DD4D7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84044" y="2217585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29" name="Рисунок 25">
            <a:extLst>
              <a:ext uri="{FF2B5EF4-FFF2-40B4-BE49-F238E27FC236}">
                <a16:creationId xmlns:a16="http://schemas.microsoft.com/office/drawing/2014/main" id="{42F6437E-5478-451F-9BE3-E8160EA435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8950" y="2217585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30" name="Рисунок 25">
            <a:extLst>
              <a:ext uri="{FF2B5EF4-FFF2-40B4-BE49-F238E27FC236}">
                <a16:creationId xmlns:a16="http://schemas.microsoft.com/office/drawing/2014/main" id="{25127DFD-53A7-41A8-B591-AEEC120380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45749" y="2217585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</p:spTree>
    <p:extLst>
      <p:ext uri="{BB962C8B-B14F-4D97-AF65-F5344CB8AC3E}">
        <p14:creationId xmlns:p14="http://schemas.microsoft.com/office/powerpoint/2010/main" val="38925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ое разделение 60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F76D43D-0DDD-4BAD-8213-BDBF75C3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6118" y="4338116"/>
            <a:ext cx="1083976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A6D3ACF3-E1F5-4332-9836-C8E6C46591B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43438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DF8FE7-66F4-4586-B49B-61E115E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B5B890-F885-418C-9812-59970CAC6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 6">
            <a:extLst>
              <a:ext uri="{FF2B5EF4-FFF2-40B4-BE49-F238E27FC236}">
                <a16:creationId xmlns:a16="http://schemas.microsoft.com/office/drawing/2014/main" id="{50521507-88DE-417D-8076-D9152E1E1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FC7DDD-6F93-45F8-AFD6-95AA051FE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D1CD6042-5DF4-4624-BC32-25F68745304A}"/>
              </a:ext>
            </a:extLst>
          </p:cNvPr>
          <p:cNvSpPr/>
          <p:nvPr userDrawn="1"/>
        </p:nvSpPr>
        <p:spPr>
          <a:xfrm rot="5400000">
            <a:off x="8220300" y="371700"/>
            <a:ext cx="4343400" cy="3600000"/>
          </a:xfrm>
          <a:custGeom>
            <a:avLst/>
            <a:gdLst>
              <a:gd name="connsiteX0" fmla="*/ 0 w 4343400"/>
              <a:gd name="connsiteY0" fmla="*/ 3600000 h 3600000"/>
              <a:gd name="connsiteX1" fmla="*/ 0 w 4343400"/>
              <a:gd name="connsiteY1" fmla="*/ 0 h 3600000"/>
              <a:gd name="connsiteX2" fmla="*/ 180000 w 4343400"/>
              <a:gd name="connsiteY2" fmla="*/ 0 h 3600000"/>
              <a:gd name="connsiteX3" fmla="*/ 4343400 w 4343400"/>
              <a:gd name="connsiteY3" fmla="*/ 0 h 3600000"/>
              <a:gd name="connsiteX4" fmla="*/ 4343400 w 4343400"/>
              <a:gd name="connsiteY4" fmla="*/ 180000 h 3600000"/>
              <a:gd name="connsiteX5" fmla="*/ 180000 w 4343400"/>
              <a:gd name="connsiteY5" fmla="*/ 180000 h 3600000"/>
              <a:gd name="connsiteX6" fmla="*/ 180000 w 43434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34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4343400" y="0"/>
                </a:lnTo>
                <a:lnTo>
                  <a:pt x="43434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6294759C-286C-4281-B194-581C766EEF28}"/>
              </a:ext>
            </a:extLst>
          </p:cNvPr>
          <p:cNvSpPr/>
          <p:nvPr userDrawn="1"/>
        </p:nvSpPr>
        <p:spPr>
          <a:xfrm rot="5400000">
            <a:off x="9134700" y="3800700"/>
            <a:ext cx="2514600" cy="3600000"/>
          </a:xfrm>
          <a:custGeom>
            <a:avLst/>
            <a:gdLst>
              <a:gd name="connsiteX0" fmla="*/ 0 w 2514600"/>
              <a:gd name="connsiteY0" fmla="*/ 180000 h 3600000"/>
              <a:gd name="connsiteX1" fmla="*/ 0 w 2514600"/>
              <a:gd name="connsiteY1" fmla="*/ 0 h 3600000"/>
              <a:gd name="connsiteX2" fmla="*/ 2334600 w 2514600"/>
              <a:gd name="connsiteY2" fmla="*/ 0 h 3600000"/>
              <a:gd name="connsiteX3" fmla="*/ 2514600 w 2514600"/>
              <a:gd name="connsiteY3" fmla="*/ 0 h 3600000"/>
              <a:gd name="connsiteX4" fmla="*/ 2514600 w 2514600"/>
              <a:gd name="connsiteY4" fmla="*/ 180000 h 3600000"/>
              <a:gd name="connsiteX5" fmla="*/ 2514600 w 2514600"/>
              <a:gd name="connsiteY5" fmla="*/ 3600000 h 3600000"/>
              <a:gd name="connsiteX6" fmla="*/ 2334600 w 2514600"/>
              <a:gd name="connsiteY6" fmla="*/ 3600000 h 3600000"/>
              <a:gd name="connsiteX7" fmla="*/ 2334600 w 25146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3600000">
                <a:moveTo>
                  <a:pt x="0" y="180000"/>
                </a:moveTo>
                <a:lnTo>
                  <a:pt x="0" y="0"/>
                </a:lnTo>
                <a:lnTo>
                  <a:pt x="2334600" y="0"/>
                </a:lnTo>
                <a:lnTo>
                  <a:pt x="2514600" y="0"/>
                </a:lnTo>
                <a:lnTo>
                  <a:pt x="2514600" y="180000"/>
                </a:lnTo>
                <a:lnTo>
                  <a:pt x="2514600" y="3600000"/>
                </a:lnTo>
                <a:lnTo>
                  <a:pt x="2334600" y="3600000"/>
                </a:lnTo>
                <a:lnTo>
                  <a:pt x="23346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5789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блоков содержимого со знач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23">
            <a:extLst>
              <a:ext uri="{FF2B5EF4-FFF2-40B4-BE49-F238E27FC236}">
                <a16:creationId xmlns:a16="http://schemas.microsoft.com/office/drawing/2014/main" id="{E6622698-E93D-4214-8C21-38DBE58C2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224000" rIns="0" rtlCol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Перетащите сюда </a:t>
            </a:r>
            <a:br>
              <a:rPr lang="ru-RU" noProof="0"/>
            </a:br>
            <a:r>
              <a:rPr lang="ru-RU" noProof="0"/>
              <a:t>свою фоновую фотографию</a:t>
            </a:r>
          </a:p>
        </p:txBody>
      </p:sp>
      <p:sp>
        <p:nvSpPr>
          <p:cNvPr id="9" name="Полилиния: фигура 8">
            <a:extLst>
              <a:ext uri="{FF2B5EF4-FFF2-40B4-BE49-F238E27FC236}">
                <a16:creationId xmlns:a16="http://schemas.microsoft.com/office/drawing/2014/main" id="{1706BC54-FE11-4237-96CC-8DA267DB5D7C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581" y="2186444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581" y="1775806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Верхний колонтитул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1291" y="2186444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16" name="Текст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1291" y="1775806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Верхний колонтитул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2000" y="2186444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18" name="Текст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92000" y="1775806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Верхний колонтитул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3E6D854C-C76F-49BA-9E74-F438CA8EA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0581" y="4335857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20" name="Текст 12">
            <a:extLst>
              <a:ext uri="{FF2B5EF4-FFF2-40B4-BE49-F238E27FC236}">
                <a16:creationId xmlns:a16="http://schemas.microsoft.com/office/drawing/2014/main" id="{AD447D7D-C1F4-4AD4-AE22-EB8E7F1C4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581" y="3925219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Верхний колонтитул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849DF703-38D0-4214-9432-83570E10EF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1291" y="4335857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22" name="Текст 12">
            <a:extLst>
              <a:ext uri="{FF2B5EF4-FFF2-40B4-BE49-F238E27FC236}">
                <a16:creationId xmlns:a16="http://schemas.microsoft.com/office/drawing/2014/main" id="{F9EB6572-1A9F-4672-8E42-A4E15451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1291" y="3925219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Верхний колонтитул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0740EB70-455C-47FF-9A9A-0D78D202ED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000" y="4335857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24" name="Текст 12">
            <a:extLst>
              <a:ext uri="{FF2B5EF4-FFF2-40B4-BE49-F238E27FC236}">
                <a16:creationId xmlns:a16="http://schemas.microsoft.com/office/drawing/2014/main" id="{CD9A5773-4F50-4631-9B7A-0A2D83E5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2000" y="3925219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Верхний 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387598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блоков содержимого со знач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45350A6A-6F84-47F4-AE00-8295D96D08C8}"/>
              </a:ext>
            </a:extLst>
          </p:cNvPr>
          <p:cNvSpPr/>
          <p:nvPr userDrawn="1"/>
        </p:nvSpPr>
        <p:spPr>
          <a:xfrm rot="5400000">
            <a:off x="8677500" y="3343500"/>
            <a:ext cx="3429000" cy="3600000"/>
          </a:xfrm>
          <a:custGeom>
            <a:avLst/>
            <a:gdLst>
              <a:gd name="connsiteX0" fmla="*/ 0 w 3429000"/>
              <a:gd name="connsiteY0" fmla="*/ 180000 h 3600000"/>
              <a:gd name="connsiteX1" fmla="*/ 0 w 3429000"/>
              <a:gd name="connsiteY1" fmla="*/ 0 h 3600000"/>
              <a:gd name="connsiteX2" fmla="*/ 3249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3429000 w 3429000"/>
              <a:gd name="connsiteY5" fmla="*/ 3600000 h 3600000"/>
              <a:gd name="connsiteX6" fmla="*/ 3249000 w 3429000"/>
              <a:gd name="connsiteY6" fmla="*/ 3600000 h 3600000"/>
              <a:gd name="connsiteX7" fmla="*/ 3249000 w 34290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0" h="3600000">
                <a:moveTo>
                  <a:pt x="0" y="180000"/>
                </a:moveTo>
                <a:lnTo>
                  <a:pt x="0" y="0"/>
                </a:lnTo>
                <a:lnTo>
                  <a:pt x="3249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3429000" y="3600000"/>
                </a:lnTo>
                <a:lnTo>
                  <a:pt x="3249000" y="3600000"/>
                </a:lnTo>
                <a:lnTo>
                  <a:pt x="32490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3429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2863" y="3668499"/>
            <a:ext cx="3276000" cy="2238815"/>
          </a:xfrm>
        </p:spPr>
        <p:txBody>
          <a:bodyPr lIns="108000" rtlCol="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863" y="3068555"/>
            <a:ext cx="3276000" cy="360445"/>
          </a:xfrm>
          <a:solidFill>
            <a:schemeClr val="tx2"/>
          </a:solidFill>
        </p:spPr>
        <p:txBody>
          <a:bodyPr lIns="108000" rtlCol="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Верхний колонтитул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5432" y="3668499"/>
            <a:ext cx="3276000" cy="2238815"/>
          </a:xfrm>
        </p:spPr>
        <p:txBody>
          <a:bodyPr lIns="108000" rtlCol="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16" name="Текст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432" y="3068555"/>
            <a:ext cx="3276000" cy="360445"/>
          </a:xfrm>
          <a:solidFill>
            <a:schemeClr val="tx2"/>
          </a:solidFill>
        </p:spPr>
        <p:txBody>
          <a:bodyPr lIns="108000" rtlCol="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Верхний колонтитул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000" y="3668499"/>
            <a:ext cx="3276000" cy="2238815"/>
          </a:xfrm>
        </p:spPr>
        <p:txBody>
          <a:bodyPr lIns="108000" rtlCol="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18" name="Текст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8000" y="3068555"/>
            <a:ext cx="3276000" cy="360445"/>
          </a:xfrm>
          <a:solidFill>
            <a:schemeClr val="tx2"/>
          </a:solidFill>
        </p:spPr>
        <p:txBody>
          <a:bodyPr lIns="108000" rtlCol="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Верхний колонтитул</a:t>
            </a:r>
          </a:p>
        </p:txBody>
      </p:sp>
      <p:sp>
        <p:nvSpPr>
          <p:cNvPr id="29" name="Рисунок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908907" y="2005142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30" name="Рисунок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71476" y="2005142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31" name="Рисунок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34044" y="2005142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sp>
        <p:nvSpPr>
          <p:cNvPr id="26" name="Полилиния: фигура 25">
            <a:extLst>
              <a:ext uri="{FF2B5EF4-FFF2-40B4-BE49-F238E27FC236}">
                <a16:creationId xmlns:a16="http://schemas.microsoft.com/office/drawing/2014/main" id="{AEA98CFA-B2A7-4BCC-B1DC-01CFAD2DD65E}"/>
              </a:ext>
            </a:extLst>
          </p:cNvPr>
          <p:cNvSpPr/>
          <p:nvPr userDrawn="1"/>
        </p:nvSpPr>
        <p:spPr>
          <a:xfrm rot="5400000">
            <a:off x="8677500" y="-85500"/>
            <a:ext cx="3429000" cy="3600000"/>
          </a:xfrm>
          <a:custGeom>
            <a:avLst/>
            <a:gdLst>
              <a:gd name="connsiteX0" fmla="*/ 0 w 3429000"/>
              <a:gd name="connsiteY0" fmla="*/ 3600000 h 3600000"/>
              <a:gd name="connsiteX1" fmla="*/ 0 w 3429000"/>
              <a:gd name="connsiteY1" fmla="*/ 0 h 3600000"/>
              <a:gd name="connsiteX2" fmla="*/ 180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180000 w 3429000"/>
              <a:gd name="connsiteY5" fmla="*/ 180000 h 3600000"/>
              <a:gd name="connsiteX6" fmla="*/ 180000 w 34290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42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 и подзаголовок — 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E752CBEE-7696-40FC-AB0E-8790B179D18C}"/>
              </a:ext>
            </a:extLst>
          </p:cNvPr>
          <p:cNvSpPr/>
          <p:nvPr userDrawn="1"/>
        </p:nvSpPr>
        <p:spPr>
          <a:xfrm rot="5400000">
            <a:off x="8188485" y="2854485"/>
            <a:ext cx="4407031" cy="3600000"/>
          </a:xfrm>
          <a:custGeom>
            <a:avLst/>
            <a:gdLst>
              <a:gd name="connsiteX0" fmla="*/ 0 w 4407031"/>
              <a:gd name="connsiteY0" fmla="*/ 180000 h 3600000"/>
              <a:gd name="connsiteX1" fmla="*/ 0 w 4407031"/>
              <a:gd name="connsiteY1" fmla="*/ 0 h 3600000"/>
              <a:gd name="connsiteX2" fmla="*/ 4227031 w 4407031"/>
              <a:gd name="connsiteY2" fmla="*/ 0 h 3600000"/>
              <a:gd name="connsiteX3" fmla="*/ 4407031 w 4407031"/>
              <a:gd name="connsiteY3" fmla="*/ 0 h 3600000"/>
              <a:gd name="connsiteX4" fmla="*/ 4407031 w 4407031"/>
              <a:gd name="connsiteY4" fmla="*/ 180000 h 3600000"/>
              <a:gd name="connsiteX5" fmla="*/ 4407031 w 4407031"/>
              <a:gd name="connsiteY5" fmla="*/ 3600000 h 3600000"/>
              <a:gd name="connsiteX6" fmla="*/ 4227031 w 4407031"/>
              <a:gd name="connsiteY6" fmla="*/ 3600000 h 3600000"/>
              <a:gd name="connsiteX7" fmla="*/ 4227031 w 4407031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7031" h="3600000">
                <a:moveTo>
                  <a:pt x="0" y="180000"/>
                </a:moveTo>
                <a:lnTo>
                  <a:pt x="0" y="0"/>
                </a:lnTo>
                <a:lnTo>
                  <a:pt x="4227031" y="0"/>
                </a:lnTo>
                <a:lnTo>
                  <a:pt x="4407031" y="0"/>
                </a:lnTo>
                <a:lnTo>
                  <a:pt x="4407031" y="180000"/>
                </a:lnTo>
                <a:lnTo>
                  <a:pt x="4407031" y="3600000"/>
                </a:lnTo>
                <a:lnTo>
                  <a:pt x="4227031" y="3600000"/>
                </a:lnTo>
                <a:lnTo>
                  <a:pt x="4227031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245140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6" name="Полилиния: фигура 25">
            <a:extLst>
              <a:ext uri="{FF2B5EF4-FFF2-40B4-BE49-F238E27FC236}">
                <a16:creationId xmlns:a16="http://schemas.microsoft.com/office/drawing/2014/main" id="{89445125-53D2-43B3-8ABC-C88E463BE7DD}"/>
              </a:ext>
            </a:extLst>
          </p:cNvPr>
          <p:cNvSpPr/>
          <p:nvPr userDrawn="1"/>
        </p:nvSpPr>
        <p:spPr>
          <a:xfrm rot="5400000">
            <a:off x="9166516" y="-574515"/>
            <a:ext cx="2450969" cy="3600000"/>
          </a:xfrm>
          <a:custGeom>
            <a:avLst/>
            <a:gdLst>
              <a:gd name="connsiteX0" fmla="*/ 0 w 2450969"/>
              <a:gd name="connsiteY0" fmla="*/ 3600000 h 3600000"/>
              <a:gd name="connsiteX1" fmla="*/ 0 w 2450969"/>
              <a:gd name="connsiteY1" fmla="*/ 0 h 3600000"/>
              <a:gd name="connsiteX2" fmla="*/ 180000 w 2450969"/>
              <a:gd name="connsiteY2" fmla="*/ 0 h 3600000"/>
              <a:gd name="connsiteX3" fmla="*/ 2450969 w 2450969"/>
              <a:gd name="connsiteY3" fmla="*/ 0 h 3600000"/>
              <a:gd name="connsiteX4" fmla="*/ 2450969 w 2450969"/>
              <a:gd name="connsiteY4" fmla="*/ 180000 h 3600000"/>
              <a:gd name="connsiteX5" fmla="*/ 180000 w 2450969"/>
              <a:gd name="connsiteY5" fmla="*/ 180000 h 3600000"/>
              <a:gd name="connsiteX6" fmla="*/ 180000 w 2450969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969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2450969" y="0"/>
                </a:lnTo>
                <a:lnTo>
                  <a:pt x="2450969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7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 и подзаголовок — полная фотограф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rtlCol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Перетащите сюда </a:t>
            </a:r>
            <a:br>
              <a:rPr lang="ru-RU" noProof="0"/>
            </a:br>
            <a:r>
              <a:rPr lang="ru-RU" noProof="0"/>
              <a:t>свою фоновую фотографию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 rtlCol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9" name="Полилиния: фигура 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0A18EF7D-14D0-4362-B8BD-722D3D54D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3936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 и подзаголовок — светл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67FF01B-795B-4F5D-87AF-6CAA8DD5D48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2F32FC1-1FF6-4874-9835-EB1A90F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3039E70-36A3-46C1-B30E-CA4CC0B36C5D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8577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6858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ru-RU" noProof="0"/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78907576-77BD-4FD0-A9FE-48D249CB435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794" y="3407563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Роль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794" y="3005055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Полное имя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6363" y="3407563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Роль</a:t>
            </a:r>
          </a:p>
        </p:txBody>
      </p:sp>
      <p:sp>
        <p:nvSpPr>
          <p:cNvPr id="16" name="Текст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6363" y="3005055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Полное имя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28931" y="3407563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Роль</a:t>
            </a:r>
          </a:p>
        </p:txBody>
      </p:sp>
      <p:sp>
        <p:nvSpPr>
          <p:cNvPr id="18" name="Текст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8931" y="3005055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Полное имя</a:t>
            </a:r>
          </a:p>
        </p:txBody>
      </p:sp>
      <p:sp>
        <p:nvSpPr>
          <p:cNvPr id="29" name="Рисунок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67711" y="1648853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30" name="Рисунок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30280" y="1648853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31" name="Рисунок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2848" y="1648853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FE407FE5-15DF-40F7-B14C-0A04CC30C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3794" y="5736658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Роль</a:t>
            </a:r>
          </a:p>
        </p:txBody>
      </p:sp>
      <p:sp>
        <p:nvSpPr>
          <p:cNvPr id="23" name="Текст 12">
            <a:extLst>
              <a:ext uri="{FF2B5EF4-FFF2-40B4-BE49-F238E27FC236}">
                <a16:creationId xmlns:a16="http://schemas.microsoft.com/office/drawing/2014/main" id="{7DD73F77-2E6A-450D-B4AF-8643D8AE1E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3794" y="5334150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Полное имя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7F1CAED2-2A78-4780-A303-060C24C56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66363" y="5736658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Роль</a:t>
            </a:r>
          </a:p>
        </p:txBody>
      </p:sp>
      <p:sp>
        <p:nvSpPr>
          <p:cNvPr id="27" name="Текст 12">
            <a:extLst>
              <a:ext uri="{FF2B5EF4-FFF2-40B4-BE49-F238E27FC236}">
                <a16:creationId xmlns:a16="http://schemas.microsoft.com/office/drawing/2014/main" id="{4E77CA0B-49F8-4EE9-84A7-AB28FD1CC1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6363" y="5334150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Полное имя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5D4F2294-CE3A-4705-BCB3-C5DAFA373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8931" y="5736658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Роль</a:t>
            </a:r>
          </a:p>
        </p:txBody>
      </p:sp>
      <p:sp>
        <p:nvSpPr>
          <p:cNvPr id="32" name="Текст 12">
            <a:extLst>
              <a:ext uri="{FF2B5EF4-FFF2-40B4-BE49-F238E27FC236}">
                <a16:creationId xmlns:a16="http://schemas.microsoft.com/office/drawing/2014/main" id="{7B49F9AF-7698-444D-8D12-FA0B6A713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28931" y="5334150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Полное имя</a:t>
            </a:r>
          </a:p>
        </p:txBody>
      </p:sp>
      <p:sp>
        <p:nvSpPr>
          <p:cNvPr id="33" name="Рисунок 25">
            <a:extLst>
              <a:ext uri="{FF2B5EF4-FFF2-40B4-BE49-F238E27FC236}">
                <a16:creationId xmlns:a16="http://schemas.microsoft.com/office/drawing/2014/main" id="{6057C2E9-1501-4819-B77D-23A0268DB0F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7711" y="3977948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34" name="Рисунок 25">
            <a:extLst>
              <a:ext uri="{FF2B5EF4-FFF2-40B4-BE49-F238E27FC236}">
                <a16:creationId xmlns:a16="http://schemas.microsoft.com/office/drawing/2014/main" id="{C77B8544-1CEE-4ED4-89E8-ED04267380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30280" y="3977948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35" name="Рисунок 25">
            <a:extLst>
              <a:ext uri="{FF2B5EF4-FFF2-40B4-BE49-F238E27FC236}">
                <a16:creationId xmlns:a16="http://schemas.microsoft.com/office/drawing/2014/main" id="{E1131D92-0382-469E-A358-A2EC5FDCCF3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92848" y="3977948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C0EBF36-B9CA-4962-B198-27B56B54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921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численные 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rtlCol="0" anchor="ctr"/>
          <a:lstStyle>
            <a:lvl1pPr marL="0" indent="0" algn="ctr">
              <a:buNone/>
              <a:defRPr sz="1050" i="1"/>
            </a:lvl1pPr>
          </a:lstStyle>
          <a:p>
            <a:pPr rtl="0"/>
            <a:r>
              <a:rPr lang="ru-RU" noProof="0"/>
              <a:t>Разместите</a:t>
            </a:r>
            <a:br>
              <a:rPr lang="ru-RU" noProof="0"/>
            </a:br>
            <a:r>
              <a:rPr lang="ru-RU" noProof="0"/>
              <a:t>здесь изображение или логотип</a:t>
            </a:r>
          </a:p>
        </p:txBody>
      </p:sp>
      <p:sp>
        <p:nvSpPr>
          <p:cNvPr id="12" name="Рисунок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rtlCol="0" anchor="ctr"/>
          <a:lstStyle>
            <a:lvl1pPr marL="0" indent="0" algn="ctr">
              <a:buNone/>
              <a:defRPr sz="1050" i="1"/>
            </a:lvl1pPr>
          </a:lstStyle>
          <a:p>
            <a:pPr rtl="0"/>
            <a:r>
              <a:rPr lang="ru-RU" noProof="0"/>
              <a:t>Разместите</a:t>
            </a:r>
            <a:br>
              <a:rPr lang="ru-RU" noProof="0"/>
            </a:br>
            <a:r>
              <a:rPr lang="ru-RU" noProof="0"/>
              <a:t>здесь изображение или логотип</a:t>
            </a:r>
          </a:p>
        </p:txBody>
      </p:sp>
      <p:sp>
        <p:nvSpPr>
          <p:cNvPr id="13" name="Рисунок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rtlCol="0" anchor="ctr"/>
          <a:lstStyle>
            <a:lvl1pPr marL="0" indent="0" algn="ctr">
              <a:buNone/>
              <a:defRPr sz="1050" i="1"/>
            </a:lvl1pPr>
          </a:lstStyle>
          <a:p>
            <a:pPr rtl="0"/>
            <a:r>
              <a:rPr lang="ru-RU" noProof="0"/>
              <a:t>Разместите</a:t>
            </a:r>
            <a:br>
              <a:rPr lang="ru-RU" noProof="0"/>
            </a:br>
            <a:r>
              <a:rPr lang="ru-RU" noProof="0"/>
              <a:t>здесь изображение или логотип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/>
              <a:t>Описание</a:t>
            </a:r>
          </a:p>
        </p:txBody>
      </p:sp>
    </p:spTree>
    <p:extLst>
      <p:ext uri="{BB962C8B-B14F-4D97-AF65-F5344CB8AC3E}">
        <p14:creationId xmlns:p14="http://schemas.microsoft.com/office/powerpoint/2010/main" val="21194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4174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!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rtlCol="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Перетащите сюда </a:t>
            </a:r>
            <a:br>
              <a:rPr lang="ru-RU" noProof="0"/>
            </a:br>
            <a:r>
              <a:rPr lang="ru-RU" noProof="0"/>
              <a:t>свою фоновую фотографию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rtlCol="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Спасибо </a:t>
            </a:r>
            <a:br>
              <a:rPr lang="ru-RU" noProof="0"/>
            </a:br>
            <a:r>
              <a:rPr lang="ru-RU" noProof="0"/>
              <a:t>за внимание!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rtlCol="0"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ru-RU" noProof="0"/>
              <a:t>Полное имя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rtlCol="0"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ru-RU" noProof="0"/>
              <a:t>Электронная почта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rtlCol="0"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ru-RU" noProof="0"/>
              <a:t>Телефон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rtlCol="0"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ru-RU" noProof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18579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5246D-ECE9-473C-953D-D56C3F7B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>
            <a:extLst>
              <a:ext uri="{FF2B5EF4-FFF2-40B4-BE49-F238E27FC236}">
                <a16:creationId xmlns:a16="http://schemas.microsoft.com/office/drawing/2014/main" id="{65D946F0-677D-45B4-83B9-FD3BD3FF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1080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45BE21-FA72-48F5-9A53-134902BF6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000" y="6192000"/>
            <a:ext cx="7560000" cy="36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70F79B29-5421-49A7-A511-D916B66A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5764" y="6241764"/>
            <a:ext cx="270474" cy="270474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 rtl="0"/>
            <a:fld id="{EECC7194-A4D0-457B-9D3E-53681723AFF7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27892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75000"/>
            <a:lumOff val="25000"/>
          </a:schemeClr>
        </a:buClr>
        <a:buSzPct val="8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Врач, указывающий на большой экран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9543" y="0"/>
            <a:ext cx="7924799" cy="6857999"/>
          </a:xfrm>
        </p:spPr>
        <p:txBody>
          <a:bodyPr rtlCol="0"/>
          <a:lstStyle/>
          <a:p>
            <a:pPr algn="ctr" rtl="0">
              <a:lnSpc>
                <a:spcPct val="110000"/>
              </a:lnSpc>
            </a:pPr>
            <a:r>
              <a:rPr lang="ru-RU" sz="4000" dirty="0"/>
              <a:t>Искусственный интеллект. История развития и современные решения</a:t>
            </a:r>
            <a:br>
              <a:rPr lang="ru-RU" sz="4000" dirty="0"/>
            </a:br>
            <a:br>
              <a:rPr lang="ru-RU" sz="4000" dirty="0"/>
            </a:br>
            <a:br>
              <a:rPr lang="ru-RU" dirty="0"/>
            </a:b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226697-2EDA-67C6-0564-34DF782C1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8692"/>
          <a:stretch/>
        </p:blipFill>
        <p:spPr>
          <a:xfrm>
            <a:off x="11524343" y="0"/>
            <a:ext cx="66765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6E165D-7AF7-39FE-6D04-0D9F3892B4F1}"/>
              </a:ext>
            </a:extLst>
          </p:cNvPr>
          <p:cNvSpPr txBox="1"/>
          <p:nvPr/>
        </p:nvSpPr>
        <p:spPr>
          <a:xfrm>
            <a:off x="5740399" y="4290537"/>
            <a:ext cx="6197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800" b="1" dirty="0">
                <a:solidFill>
                  <a:schemeClr val="bg1"/>
                </a:solidFill>
                <a:latin typeface="+mj-lt"/>
              </a:rPr>
              <a:t>Исполнитель:</a:t>
            </a:r>
          </a:p>
          <a:p>
            <a:pPr algn="r"/>
            <a:r>
              <a:rPr lang="ru-RU" sz="2800" b="1" dirty="0">
                <a:solidFill>
                  <a:schemeClr val="bg1"/>
                </a:solidFill>
                <a:latin typeface="+mj-lt"/>
              </a:rPr>
              <a:t>студент 151-с группы</a:t>
            </a:r>
          </a:p>
          <a:p>
            <a:pPr algn="r"/>
            <a:r>
              <a:rPr lang="ru-RU" sz="2800" b="1" dirty="0">
                <a:solidFill>
                  <a:schemeClr val="bg1"/>
                </a:solidFill>
                <a:latin typeface="+mj-lt"/>
              </a:rPr>
              <a:t>Коршунов Павел Евгеньевич</a:t>
            </a:r>
          </a:p>
          <a:p>
            <a:pPr algn="r"/>
            <a:r>
              <a:rPr lang="ru-RU" sz="2800" b="1" dirty="0">
                <a:solidFill>
                  <a:schemeClr val="bg1"/>
                </a:solidFill>
                <a:latin typeface="+mj-lt"/>
              </a:rPr>
              <a:t>Научный руководитель:</a:t>
            </a:r>
          </a:p>
          <a:p>
            <a:pPr algn="r"/>
            <a:r>
              <a:rPr lang="ru-RU" sz="2800" b="1" dirty="0" err="1">
                <a:solidFill>
                  <a:schemeClr val="bg1"/>
                </a:solidFill>
                <a:latin typeface="+mj-lt"/>
              </a:rPr>
              <a:t>Кутыгин</a:t>
            </a:r>
            <a:r>
              <a:rPr lang="ru-RU" sz="2800" b="1" dirty="0">
                <a:solidFill>
                  <a:schemeClr val="bg1"/>
                </a:solidFill>
                <a:latin typeface="+mj-lt"/>
              </a:rPr>
              <a:t> Олег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 descr="Женщина, входящая в дверь">
            <a:extLst>
              <a:ext uri="{FF2B5EF4-FFF2-40B4-BE49-F238E27FC236}">
                <a16:creationId xmlns:a16="http://schemas.microsoft.com/office/drawing/2014/main" id="{86D7D4AC-BE7B-45B9-AF4A-E2AF1B6C796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285"/>
            <a:ext cx="12012000" cy="6858000"/>
          </a:xfr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D509E5E-F68C-4F2B-8EC7-43259586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5285"/>
            <a:ext cx="6095999" cy="685800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ru-RU" sz="6000" b="1" dirty="0">
                <a:latin typeface="+mj-lt"/>
              </a:rPr>
              <a:t>  Задачи</a:t>
            </a:r>
            <a:endParaRPr lang="ru-RU" sz="800" b="1" dirty="0">
              <a:latin typeface="+mj-lt"/>
            </a:endParaRPr>
          </a:p>
          <a:p>
            <a:pPr rtl="0"/>
            <a:endParaRPr lang="ru-RU" sz="2400" b="1" dirty="0">
              <a:latin typeface="+mj-lt"/>
            </a:endParaRPr>
          </a:p>
          <a:p>
            <a:pPr marL="180975" indent="266700" rtl="0">
              <a:tabLst>
                <a:tab pos="5829300" algn="l"/>
              </a:tabLst>
            </a:pPr>
            <a:r>
              <a:rPr lang="ru-RU" sz="2800" dirty="0">
                <a:latin typeface="+mj-lt"/>
              </a:rPr>
              <a:t>1. Изучить научно-методическую литературу по исследуемой теме проекта.</a:t>
            </a:r>
          </a:p>
          <a:p>
            <a:pPr marL="180975" indent="266700" rtl="0">
              <a:tabLst>
                <a:tab pos="5829300" algn="l"/>
              </a:tabLst>
            </a:pPr>
            <a:r>
              <a:rPr lang="ru-RU" sz="2800" dirty="0">
                <a:latin typeface="+mj-lt"/>
              </a:rPr>
              <a:t>2. Проанализировать особенности использования искусственного интеллекта.</a:t>
            </a:r>
          </a:p>
          <a:p>
            <a:pPr marL="180975" indent="266700" rtl="0">
              <a:tabLst>
                <a:tab pos="5829300" algn="l"/>
              </a:tabLst>
            </a:pPr>
            <a:r>
              <a:rPr lang="ru-RU" sz="2800" dirty="0">
                <a:latin typeface="+mj-lt"/>
              </a:rPr>
              <a:t>3. Провести опрос о актуальности искусственного интеллекта среди людей разных возрастов.</a:t>
            </a:r>
          </a:p>
          <a:p>
            <a:pPr marL="180975" rtl="0">
              <a:tabLst>
                <a:tab pos="5829300" algn="l"/>
              </a:tabLst>
            </a:pPr>
            <a:r>
              <a:rPr lang="ru-RU" sz="2800" dirty="0">
                <a:latin typeface="+mj-lt"/>
              </a:rPr>
              <a:t>  4. Разработать рекомендации по использованию искусственного интеллекта	</a:t>
            </a:r>
          </a:p>
          <a:p>
            <a:pPr marL="342900" indent="-342900" rtl="0">
              <a:buAutoNum type="arabicPeriod" startAt="4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3203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2DA9E7-3275-A4C8-6C0D-12D8E333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522436"/>
            <a:ext cx="5078412" cy="580216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Одним из основателей теории искусственного интеллекта считается известный английский ученый Алан Тьюринг, который в 1950 году опубликовал статью «Вычислительные машины и разум»</a:t>
            </a:r>
            <a:b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640A4D9-80A9-35AC-1C85-D72782323A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09982" y="408855"/>
            <a:ext cx="5478780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13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9A1F06-4D18-B929-04D2-4FC6C144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00" y="322411"/>
            <a:ext cx="7560000" cy="370166"/>
          </a:xfrm>
        </p:spPr>
        <p:txBody>
          <a:bodyPr/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тенденциями развития искусственного интеллекта</a:t>
            </a:r>
            <a:endParaRPr lang="ru-RU" sz="4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15A87A4-EB5A-8D94-1449-CC1F0979DD78}"/>
              </a:ext>
            </a:extLst>
          </p:cNvPr>
          <p:cNvSpPr/>
          <p:nvPr/>
        </p:nvSpPr>
        <p:spPr>
          <a:xfrm>
            <a:off x="1" y="1524000"/>
            <a:ext cx="12192000" cy="1569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4E5E67-B46F-D47D-2510-E328474B3C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9200" y="1649110"/>
            <a:ext cx="11172825" cy="4551975"/>
          </a:xfrm>
        </p:spPr>
        <p:txBody>
          <a:bodyPr/>
          <a:lstStyle/>
          <a:p>
            <a:pPr algn="just"/>
            <a:r>
              <a:rPr lang="ru-RU" sz="2800" b="1" dirty="0">
                <a:solidFill>
                  <a:schemeClr val="accent2"/>
                </a:solidFill>
              </a:rPr>
              <a:t>- Расширение вычислительных и функциональных возможностей искусственного интеллекта.</a:t>
            </a:r>
          </a:p>
          <a:p>
            <a:pPr algn="just"/>
            <a:r>
              <a:rPr lang="ru-RU" sz="2800" b="1" dirty="0">
                <a:solidFill>
                  <a:schemeClr val="accent2"/>
                </a:solidFill>
              </a:rPr>
              <a:t>- Развитие роботизированных сервисов с помощью искусственного интеллекта с целью избавиться от влияния «человеческого фактора» и освободить человека от монотонной работы.</a:t>
            </a:r>
          </a:p>
          <a:p>
            <a:pPr algn="just"/>
            <a:r>
              <a:rPr lang="ru-RU" sz="2800" b="1" dirty="0">
                <a:solidFill>
                  <a:schemeClr val="accent2"/>
                </a:solidFill>
              </a:rPr>
              <a:t>- Рост рынка технологий искусственного интеллекта будет обеспечиваться технологиями машинного обучения и анализа данных.</a:t>
            </a:r>
          </a:p>
          <a:p>
            <a:pPr algn="just"/>
            <a:r>
              <a:rPr lang="ru-RU" sz="2800" b="1" dirty="0">
                <a:solidFill>
                  <a:schemeClr val="accent2"/>
                </a:solidFill>
              </a:rPr>
              <a:t>- Дальнейшее увеличение использования искусственного интеллекта практически во всех отраслях экономики и сферах общественных отношений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3786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 descr="Врач, стоящий перед компьютером&#10;">
            <a:extLst>
              <a:ext uri="{FF2B5EF4-FFF2-40B4-BE49-F238E27FC236}">
                <a16:creationId xmlns:a16="http://schemas.microsoft.com/office/drawing/2014/main" id="{D4AB4507-F77A-44A5-B290-3F3D4817B7B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4592135-A11E-4178-A320-510C4B74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6496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C499D5A-91D2-45BF-B204-6FDFFE97F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Сферы применения</a:t>
            </a:r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6917E9BF-7C5E-4DE7-8C66-9B69A207D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511184" y="3716527"/>
            <a:ext cx="9169633" cy="0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D14DCD19-05BE-4D3F-A9E1-A9353D509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19527B99-C015-4364-A9D0-E9EF5F8CC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19527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объект 7" descr="Бежевый прямоугольник">
            <a:extLst>
              <a:ext uri="{FF2B5EF4-FFF2-40B4-BE49-F238E27FC236}">
                <a16:creationId xmlns:a16="http://schemas.microsoft.com/office/drawing/2014/main" id="{6167A703-9B37-469C-853D-0CB6C1F4D8F0}"/>
              </a:ext>
            </a:extLst>
          </p:cNvPr>
          <p:cNvSpPr/>
          <p:nvPr/>
        </p:nvSpPr>
        <p:spPr bwMode="white">
          <a:xfrm flipV="1">
            <a:off x="722098" y="1277067"/>
            <a:ext cx="3526051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ru-RU" dirty="0"/>
          </a:p>
        </p:txBody>
      </p: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E2EAB4BE-ED20-4BB8-A23B-B02A1115A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4752270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475EC06-B6FE-69E2-E0EC-6083701AE3D1}"/>
              </a:ext>
            </a:extLst>
          </p:cNvPr>
          <p:cNvSpPr txBox="1"/>
          <p:nvPr/>
        </p:nvSpPr>
        <p:spPr>
          <a:xfrm>
            <a:off x="635955" y="1664145"/>
            <a:ext cx="4669470" cy="390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>
                <a:solidFill>
                  <a:schemeClr val="bg1"/>
                </a:solidFill>
                <a:latin typeface="+mj-lt"/>
              </a:rPr>
              <a:t>- в сфере образования</a:t>
            </a:r>
          </a:p>
          <a:p>
            <a:pPr>
              <a:lnSpc>
                <a:spcPct val="150000"/>
              </a:lnSpc>
            </a:pPr>
            <a:r>
              <a:rPr lang="ru-RU" sz="2800" b="1" dirty="0">
                <a:solidFill>
                  <a:schemeClr val="bg1"/>
                </a:solidFill>
                <a:latin typeface="+mj-lt"/>
              </a:rPr>
              <a:t>- в промышленной сфере</a:t>
            </a:r>
          </a:p>
          <a:p>
            <a:pPr>
              <a:lnSpc>
                <a:spcPct val="150000"/>
              </a:lnSpc>
            </a:pPr>
            <a:r>
              <a:rPr lang="ru-RU" sz="2800" b="1" dirty="0">
                <a:solidFill>
                  <a:schemeClr val="bg1"/>
                </a:solidFill>
                <a:latin typeface="+mj-lt"/>
              </a:rPr>
              <a:t>- в сельском хозяйстве</a:t>
            </a:r>
          </a:p>
          <a:p>
            <a:pPr>
              <a:lnSpc>
                <a:spcPct val="150000"/>
              </a:lnSpc>
            </a:pPr>
            <a:r>
              <a:rPr lang="ru-RU" sz="2800" b="1" dirty="0">
                <a:solidFill>
                  <a:schemeClr val="bg1"/>
                </a:solidFill>
                <a:latin typeface="+mj-lt"/>
              </a:rPr>
              <a:t>- в сфере дорожного движения</a:t>
            </a:r>
          </a:p>
          <a:p>
            <a:pPr>
              <a:lnSpc>
                <a:spcPct val="150000"/>
              </a:lnSpc>
            </a:pPr>
            <a:r>
              <a:rPr lang="ru-RU" sz="2800" b="1" dirty="0">
                <a:solidFill>
                  <a:schemeClr val="bg1"/>
                </a:solidFill>
                <a:latin typeface="+mj-lt"/>
              </a:rPr>
              <a:t>- в бытовой сфере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EF3478E4-0055-29B0-7689-4FA3A64D4E4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4639" y="183561"/>
            <a:ext cx="2889207" cy="2775311"/>
          </a:xfrm>
          <a:prstGeom prst="ellipse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A85B5708-7482-211D-49F3-6059F373519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87062" y="205738"/>
            <a:ext cx="2839590" cy="2750950"/>
          </a:xfrm>
          <a:prstGeom prst="ellipse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BE4AD266-AA27-5B05-6316-939A7C0C630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9642" y="1804714"/>
            <a:ext cx="3653550" cy="3516425"/>
          </a:xfrm>
          <a:prstGeom prst="ellipse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519EEFF5-D3F1-F89E-4C54-60DC72E7B68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63396" y="3833516"/>
            <a:ext cx="2839590" cy="2818994"/>
          </a:xfrm>
          <a:prstGeom prst="ellipse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F0D17BF2-211A-D1C4-AB99-0C7C3F8C02B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4640" y="3899127"/>
            <a:ext cx="2839591" cy="277531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55836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9A1F06-4D18-B929-04D2-4FC6C144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894" y="333481"/>
            <a:ext cx="7560000" cy="839639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</a:rPr>
              <a:t>Опрос</a:t>
            </a:r>
            <a:endParaRPr lang="ru-RU" sz="4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15A87A4-EB5A-8D94-1449-CC1F0979DD78}"/>
              </a:ext>
            </a:extLst>
          </p:cNvPr>
          <p:cNvSpPr/>
          <p:nvPr/>
        </p:nvSpPr>
        <p:spPr>
          <a:xfrm>
            <a:off x="1" y="1223730"/>
            <a:ext cx="12192000" cy="1869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4E5E67-B46F-D47D-2510-E328474B3C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9200" y="1324949"/>
            <a:ext cx="6135900" cy="4551975"/>
          </a:xfrm>
        </p:spPr>
        <p:txBody>
          <a:bodyPr/>
          <a:lstStyle/>
          <a:p>
            <a:pPr indent="450215" algn="just">
              <a:lnSpc>
                <a:spcPct val="130000"/>
              </a:lnSpc>
              <a:spcAft>
                <a:spcPts val="800"/>
              </a:spcAft>
            </a:pPr>
            <a:r>
              <a:rPr lang="ru-RU" sz="2000" b="1" kern="100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Слышали ли Вы что-нибудь о искусственном интеллекте?</a:t>
            </a:r>
          </a:p>
          <a:p>
            <a:pPr indent="450215" algn="just">
              <a:lnSpc>
                <a:spcPct val="130000"/>
              </a:lnSpc>
              <a:spcAft>
                <a:spcPts val="800"/>
              </a:spcAft>
            </a:pPr>
            <a:r>
              <a:rPr lang="ru-RU" sz="2000" b="1" kern="100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Когда создали первый искусственный интеллект?</a:t>
            </a:r>
          </a:p>
          <a:p>
            <a:pPr indent="450215" algn="just">
              <a:lnSpc>
                <a:spcPct val="130000"/>
              </a:lnSpc>
              <a:spcAft>
                <a:spcPts val="800"/>
              </a:spcAft>
            </a:pPr>
            <a:r>
              <a:rPr lang="ru-RU" sz="2000" b="1" kern="100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Как называлась первая модель искусственного интеллекта?</a:t>
            </a:r>
          </a:p>
          <a:p>
            <a:pPr indent="450215" algn="just">
              <a:lnSpc>
                <a:spcPct val="130000"/>
              </a:lnSpc>
              <a:spcAft>
                <a:spcPts val="800"/>
              </a:spcAft>
            </a:pPr>
            <a:r>
              <a:rPr lang="ru-RU" sz="2000" b="1" kern="100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Кто является первым основателем искусственного интеллекта?</a:t>
            </a:r>
          </a:p>
          <a:p>
            <a:pPr indent="450215" algn="just">
              <a:lnSpc>
                <a:spcPct val="130000"/>
              </a:lnSpc>
              <a:spcAft>
                <a:spcPts val="800"/>
              </a:spcAft>
            </a:pPr>
            <a:r>
              <a:rPr lang="ru-RU" sz="2000" b="1" kern="100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Как вы считаете, развитие искусственного интеллекта является важным этапом для мира в целом?</a:t>
            </a:r>
          </a:p>
          <a:p>
            <a:pPr indent="450215" algn="just">
              <a:lnSpc>
                <a:spcPct val="130000"/>
              </a:lnSpc>
              <a:spcAft>
                <a:spcPts val="800"/>
              </a:spcAft>
            </a:pPr>
            <a:r>
              <a:rPr lang="ru-RU" sz="2000" b="1" kern="100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Хотели бы Вы узнать, что такое искусственный интеллект?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51D0EA1-FFA2-DA93-B442-6DFBBDF22F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5838" y="1223730"/>
            <a:ext cx="5516162" cy="563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64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Врач, указывающий на большой экран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9543" y="0"/>
            <a:ext cx="7924799" cy="6857999"/>
          </a:xfrm>
        </p:spPr>
        <p:txBody>
          <a:bodyPr rtlCol="0"/>
          <a:lstStyle/>
          <a:p>
            <a:pPr algn="ctr" rtl="0">
              <a:lnSpc>
                <a:spcPct val="110000"/>
              </a:lnSpc>
            </a:pPr>
            <a:r>
              <a:rPr lang="ru-RU" sz="4000" dirty="0"/>
              <a:t>Искусственный интеллект. История развития и современные решения</a:t>
            </a:r>
            <a:br>
              <a:rPr lang="ru-RU" sz="4000" dirty="0"/>
            </a:br>
            <a:br>
              <a:rPr lang="ru-RU" sz="4000" dirty="0"/>
            </a:br>
            <a:br>
              <a:rPr lang="ru-RU" dirty="0"/>
            </a:b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226697-2EDA-67C6-0564-34DF782C1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8692"/>
          <a:stretch/>
        </p:blipFill>
        <p:spPr>
          <a:xfrm>
            <a:off x="11524343" y="0"/>
            <a:ext cx="66765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6E165D-7AF7-39FE-6D04-0D9F3892B4F1}"/>
              </a:ext>
            </a:extLst>
          </p:cNvPr>
          <p:cNvSpPr txBox="1"/>
          <p:nvPr/>
        </p:nvSpPr>
        <p:spPr>
          <a:xfrm>
            <a:off x="5740399" y="4290537"/>
            <a:ext cx="6197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800" b="1" dirty="0">
                <a:solidFill>
                  <a:schemeClr val="bg1"/>
                </a:solidFill>
                <a:latin typeface="+mj-lt"/>
              </a:rPr>
              <a:t>Исполнитель:</a:t>
            </a:r>
          </a:p>
          <a:p>
            <a:pPr algn="r"/>
            <a:r>
              <a:rPr lang="ru-RU" sz="2800" b="1" dirty="0">
                <a:solidFill>
                  <a:schemeClr val="bg1"/>
                </a:solidFill>
                <a:latin typeface="+mj-lt"/>
              </a:rPr>
              <a:t>студент 151-с группы</a:t>
            </a:r>
          </a:p>
          <a:p>
            <a:pPr algn="r"/>
            <a:r>
              <a:rPr lang="ru-RU" sz="2800" b="1" dirty="0">
                <a:solidFill>
                  <a:schemeClr val="bg1"/>
                </a:solidFill>
                <a:latin typeface="+mj-lt"/>
              </a:rPr>
              <a:t>Коршунов Павел Евгеньевич</a:t>
            </a:r>
          </a:p>
          <a:p>
            <a:pPr algn="r"/>
            <a:r>
              <a:rPr lang="ru-RU" sz="2800" b="1" dirty="0">
                <a:solidFill>
                  <a:schemeClr val="bg1"/>
                </a:solidFill>
                <a:latin typeface="+mj-lt"/>
              </a:rPr>
              <a:t>Научный руководитель:</a:t>
            </a:r>
          </a:p>
          <a:p>
            <a:pPr algn="r"/>
            <a:r>
              <a:rPr lang="ru-RU" sz="2800" b="1" dirty="0" err="1">
                <a:solidFill>
                  <a:schemeClr val="bg1"/>
                </a:solidFill>
                <a:latin typeface="+mj-lt"/>
              </a:rPr>
              <a:t>Кутыгин</a:t>
            </a:r>
            <a:r>
              <a:rPr lang="ru-RU" sz="2800" b="1" dirty="0">
                <a:solidFill>
                  <a:schemeClr val="bg1"/>
                </a:solidFill>
                <a:latin typeface="+mj-lt"/>
              </a:rPr>
              <a:t> Олег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6356731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MS Healthcare Pitch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MS Healthcare Pitch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/>
            </a:gs>
            <a:gs pos="100000">
              <a:schemeClr val="accent2"/>
            </a:gs>
          </a:gsLst>
          <a:lin ang="144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4308985_TF00450287" id="{47236EE0-B714-4C01-AC17-6ED3799A5CB0}" vid="{BB7FA567-E2BE-49ED-812C-18562CD2B8A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3BAED8-F9E7-4D41-86E9-333473F90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4BDB64-2AF8-42D4-96C8-B6B6F098993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C66BDC7-24D2-4343-8D41-18F9C23F86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медицинской компании</Template>
  <TotalTime>154</TotalTime>
  <Words>273</Words>
  <Application>Microsoft Office PowerPoint</Application>
  <PresentationFormat>Широкоэкранный</PresentationFormat>
  <Paragraphs>41</Paragraphs>
  <Slides>7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Arial </vt:lpstr>
      <vt:lpstr>Calibri</vt:lpstr>
      <vt:lpstr>Courier New</vt:lpstr>
      <vt:lpstr>Gill Sans MT</vt:lpstr>
      <vt:lpstr>Times New Roman</vt:lpstr>
      <vt:lpstr>Тема Office</vt:lpstr>
      <vt:lpstr>Искусственный интеллект. История развития и современные решения   </vt:lpstr>
      <vt:lpstr>Презентация PowerPoint</vt:lpstr>
      <vt:lpstr>Одним из основателей теории искусственного интеллекта считается известный английский ученый Алан Тьюринг, который в 1950 году опубликовал статью «Вычислительные машины и разум» </vt:lpstr>
      <vt:lpstr>тенденциями развития искусственного интеллекта</vt:lpstr>
      <vt:lpstr>Сферы применения</vt:lpstr>
      <vt:lpstr>Опрос</vt:lpstr>
      <vt:lpstr>Искусственный интеллект. История развития и современные решения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Ваше решение в области Коршунов</dc:title>
  <dc:creator>Ignorant_Dreamer</dc:creator>
  <cp:lastModifiedBy>Ignorant_Dreamer</cp:lastModifiedBy>
  <cp:revision>4</cp:revision>
  <dcterms:created xsi:type="dcterms:W3CDTF">2024-05-03T16:54:26Z</dcterms:created>
  <dcterms:modified xsi:type="dcterms:W3CDTF">2024-06-19T20:43:00Z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